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  <p:sldId id="260" r:id="rId7"/>
    <p:sldId id="261" r:id="rId8"/>
    <p:sldId id="262" r:id="rId9"/>
    <p:sldId id="263" r:id="rId10"/>
    <p:sldId id="269" r:id="rId11"/>
    <p:sldId id="268" r:id="rId12"/>
    <p:sldId id="265" r:id="rId13"/>
    <p:sldId id="26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945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1048946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>
            <a:endParaRPr lang="en-US"/>
          </a:p>
        </p:txBody>
      </p:sp>
      <p:sp>
        <p:nvSpPr>
          <p:cNvPr id="104894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94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94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8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76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77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1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78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78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0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79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79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80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80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9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84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84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8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84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85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1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94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94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8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8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69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4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64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61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2" Type="http://schemas.openxmlformats.org/officeDocument/2006/relationships/notesSlide" Target="../notesSlides/notesSlide5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24.xml"/><Relationship Id="rId2" Type="http://schemas.openxmlformats.org/officeDocument/2006/relationships/tags" Target="../tags/tag6.xml"/><Relationship Id="rId19" Type="http://schemas.openxmlformats.org/officeDocument/2006/relationships/tags" Target="../tags/tag23.xml"/><Relationship Id="rId18" Type="http://schemas.openxmlformats.org/officeDocument/2006/relationships/tags" Target="../tags/tag22.xml"/><Relationship Id="rId17" Type="http://schemas.openxmlformats.org/officeDocument/2006/relationships/tags" Target="../tags/tag21.xml"/><Relationship Id="rId16" Type="http://schemas.openxmlformats.org/officeDocument/2006/relationships/tags" Target="../tags/tag20.xml"/><Relationship Id="rId15" Type="http://schemas.openxmlformats.org/officeDocument/2006/relationships/tags" Target="../tags/tag19.xml"/><Relationship Id="rId14" Type="http://schemas.openxmlformats.org/officeDocument/2006/relationships/tags" Target="../tags/tag18.xml"/><Relationship Id="rId13" Type="http://schemas.openxmlformats.org/officeDocument/2006/relationships/tags" Target="../tags/tag17.xml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4" Type="http://schemas.openxmlformats.org/officeDocument/2006/relationships/notesSlide" Target="../notesSlides/notesSlide7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5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7.png"/><Relationship Id="rId15" Type="http://schemas.openxmlformats.org/officeDocument/2006/relationships/tags" Target="../tags/tag48.xml"/><Relationship Id="rId14" Type="http://schemas.openxmlformats.org/officeDocument/2006/relationships/image" Target="../media/image6.png"/><Relationship Id="rId13" Type="http://schemas.openxmlformats.org/officeDocument/2006/relationships/tags" Target="../tags/tag47.xml"/><Relationship Id="rId12" Type="http://schemas.openxmlformats.org/officeDocument/2006/relationships/image" Target="../media/image5.png"/><Relationship Id="rId11" Type="http://schemas.openxmlformats.org/officeDocument/2006/relationships/tags" Target="../tags/tag46.xml"/><Relationship Id="rId10" Type="http://schemas.openxmlformats.org/officeDocument/2006/relationships/image" Target="../media/image4.png"/><Relationship Id="rId1" Type="http://schemas.openxmlformats.org/officeDocument/2006/relationships/tags" Target="../tags/tag3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5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1048756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1048757" name="Text 2"/>
          <p:cNvSpPr/>
          <p:nvPr/>
        </p:nvSpPr>
        <p:spPr>
          <a:xfrm>
            <a:off x="157480" y="1811020"/>
            <a:ext cx="30099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lnSpc>
                <a:spcPct val="150000"/>
              </a:lnSpc>
              <a:buNone/>
            </a:pPr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34" charset="0"/>
                <a:ea typeface="Arial" panose="020B0604020202020204" pitchFamily="34" charset="-122"/>
                <a:cs typeface="Times New Roman" panose="02020603050405020304" pitchFamily="34" charset="0"/>
              </a:rPr>
              <a:t>UNIVERSITY OF ILORIN, ILORIN
</a:t>
            </a:r>
            <a:r>
              <a:rPr lang="en-US" sz="1000" dirty="0">
                <a:solidFill>
                  <a:schemeClr val="tx1"/>
                </a:solidFill>
                <a:latin typeface="Times New Roman" panose="02020603050405020304" pitchFamily="34" charset="0"/>
                <a:ea typeface="Arial" panose="020B0604020202020204" pitchFamily="34" charset="-122"/>
                <a:cs typeface="Times New Roman" panose="02020603050405020304" pitchFamily="34" charset="0"/>
              </a:rPr>
              <a:t>Faculty of Communication and Information Sciences
Department of Telecommunication Science</a:t>
            </a:r>
            <a:endParaRPr lang="en-US" sz="1000" dirty="0">
              <a:solidFill>
                <a:schemeClr val="tx1"/>
              </a:solidFill>
              <a:latin typeface="Times New Roman" panose="02020603050405020304" pitchFamily="34" charset="0"/>
              <a:ea typeface="Arial" panose="020B0604020202020204" pitchFamily="34" charset="-122"/>
              <a:cs typeface="Times New Roman" panose="02020603050405020304" pitchFamily="34" charset="0"/>
            </a:endParaRPr>
          </a:p>
        </p:txBody>
      </p:sp>
      <p:sp>
        <p:nvSpPr>
          <p:cNvPr id="1048758" name="Shape 3"/>
          <p:cNvSpPr/>
          <p:nvPr/>
        </p:nvSpPr>
        <p:spPr>
          <a:xfrm>
            <a:off x="3200400" y="137160"/>
            <a:ext cx="36576" cy="486918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1048759" name="Text 4"/>
          <p:cNvSpPr/>
          <p:nvPr/>
        </p:nvSpPr>
        <p:spPr>
          <a:xfrm>
            <a:off x="3383280" y="274320"/>
            <a:ext cx="5577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000" kern="0" spc="150" dirty="0">
                <a:solidFill>
                  <a:schemeClr val="tx1"/>
                </a:solidFill>
                <a:latin typeface="Times New Roman" panose="02020603050405020304" pitchFamily="34" charset="0"/>
                <a:ea typeface="Arial" panose="020B0604020202020204" pitchFamily="34" charset="-122"/>
                <a:cs typeface="Times New Roman" panose="02020603050405020304" pitchFamily="34" charset="0"/>
              </a:rPr>
              <a:t>PROJECT PRESENTATION</a:t>
            </a:r>
            <a:endParaRPr lang="en-US" sz="1000" kern="0" spc="150" dirty="0">
              <a:solidFill>
                <a:schemeClr val="tx1"/>
              </a:solidFill>
              <a:latin typeface="Times New Roman" panose="02020603050405020304" pitchFamily="34" charset="0"/>
              <a:ea typeface="Arial" panose="020B0604020202020204" pitchFamily="34" charset="-122"/>
              <a:cs typeface="Times New Roman" panose="02020603050405020304" pitchFamily="34" charset="0"/>
            </a:endParaRPr>
          </a:p>
        </p:txBody>
      </p:sp>
      <p:sp>
        <p:nvSpPr>
          <p:cNvPr id="1048760" name="Text 5"/>
          <p:cNvSpPr/>
          <p:nvPr/>
        </p:nvSpPr>
        <p:spPr>
          <a:xfrm>
            <a:off x="3383280" y="640080"/>
            <a:ext cx="557784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34" charset="0"/>
                <a:ea typeface="Arial" panose="020B0604020202020204" pitchFamily="34" charset="-122"/>
                <a:cs typeface="Times New Roman" panose="02020603050405020304" pitchFamily="34" charset="0"/>
              </a:rPr>
              <a:t>Design and Implementation of a Smart Attendance System Using Acoustic Beacon and BLE Proximity Verification</a:t>
            </a:r>
            <a:endParaRPr lang="en-US" sz="2200" b="1" dirty="0">
              <a:solidFill>
                <a:schemeClr val="tx1"/>
              </a:solidFill>
              <a:latin typeface="Times New Roman" panose="02020603050405020304" pitchFamily="34" charset="0"/>
              <a:ea typeface="Arial" panose="020B0604020202020204" pitchFamily="34" charset="-122"/>
              <a:cs typeface="Times New Roman" panose="02020603050405020304" pitchFamily="34" charset="0"/>
            </a:endParaRPr>
          </a:p>
        </p:txBody>
      </p:sp>
      <p:sp>
        <p:nvSpPr>
          <p:cNvPr id="1048761" name="Shape 6"/>
          <p:cNvSpPr/>
          <p:nvPr/>
        </p:nvSpPr>
        <p:spPr>
          <a:xfrm>
            <a:off x="3383280" y="2148840"/>
            <a:ext cx="5303520" cy="36576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1048762" name="Text 7"/>
          <p:cNvSpPr/>
          <p:nvPr/>
        </p:nvSpPr>
        <p:spPr>
          <a:xfrm>
            <a:off x="3383280" y="228600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  <a:latin typeface="Times New Roman" panose="02020603050405020304" pitchFamily="34" charset="0"/>
                <a:ea typeface="Arial" panose="020B0604020202020204" pitchFamily="34" charset="-122"/>
                <a:cs typeface="Times New Roman" panose="02020603050405020304" pitchFamily="34" charset="0"/>
              </a:rPr>
              <a:t>Presented by:</a:t>
            </a:r>
            <a:endParaRPr lang="en-US" sz="1000" dirty="0">
              <a:solidFill>
                <a:schemeClr val="tx1"/>
              </a:solidFill>
              <a:latin typeface="Times New Roman" panose="02020603050405020304" pitchFamily="34" charset="0"/>
              <a:ea typeface="Arial" panose="020B0604020202020204" pitchFamily="34" charset="-122"/>
              <a:cs typeface="Times New Roman" panose="02020603050405020304" pitchFamily="34" charset="0"/>
            </a:endParaRPr>
          </a:p>
        </p:txBody>
      </p:sp>
      <p:sp>
        <p:nvSpPr>
          <p:cNvPr id="1048763" name="Text 8"/>
          <p:cNvSpPr/>
          <p:nvPr/>
        </p:nvSpPr>
        <p:spPr>
          <a:xfrm>
            <a:off x="3383280" y="2606040"/>
            <a:ext cx="5577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34" charset="0"/>
                <a:ea typeface="Arial" panose="020B0604020202020204" pitchFamily="34" charset="-122"/>
                <a:cs typeface="Times New Roman" panose="02020603050405020304" pitchFamily="34" charset="0"/>
              </a:rPr>
              <a:t>OLUGBEMI Joshua Iyanuoluwa –  21/52HP071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34" charset="0"/>
              <a:ea typeface="Arial" panose="020B0604020202020204" pitchFamily="34" charset="-122"/>
              <a:cs typeface="Times New Roman" panose="02020603050405020304" pitchFamily="34" charset="0"/>
            </a:endParaRPr>
          </a:p>
        </p:txBody>
      </p:sp>
      <p:sp>
        <p:nvSpPr>
          <p:cNvPr id="1048764" name="Text 9"/>
          <p:cNvSpPr/>
          <p:nvPr/>
        </p:nvSpPr>
        <p:spPr>
          <a:xfrm>
            <a:off x="3383280" y="3063240"/>
            <a:ext cx="5303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  <a:latin typeface="Times New Roman" panose="02020603050405020304" pitchFamily="34" charset="0"/>
                <a:ea typeface="Arial" panose="020B0604020202020204" pitchFamily="34" charset="-122"/>
                <a:cs typeface="Times New Roman" panose="02020603050405020304" pitchFamily="34" charset="0"/>
              </a:rPr>
              <a:t>Project Supervisor:</a:t>
            </a:r>
            <a:endParaRPr lang="en-US" sz="1000" dirty="0">
              <a:solidFill>
                <a:schemeClr val="tx1"/>
              </a:solidFill>
              <a:latin typeface="Times New Roman" panose="02020603050405020304" pitchFamily="34" charset="0"/>
              <a:ea typeface="Arial" panose="020B0604020202020204" pitchFamily="34" charset="-122"/>
              <a:cs typeface="Times New Roman" panose="02020603050405020304" pitchFamily="34" charset="0"/>
            </a:endParaRPr>
          </a:p>
        </p:txBody>
      </p:sp>
      <p:sp>
        <p:nvSpPr>
          <p:cNvPr id="1048765" name="Text 10"/>
          <p:cNvSpPr/>
          <p:nvPr/>
        </p:nvSpPr>
        <p:spPr>
          <a:xfrm>
            <a:off x="3383280" y="3310128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Times New Roman" panose="02020603050405020304" pitchFamily="34" charset="0"/>
                <a:ea typeface="Arial" panose="020B0604020202020204" pitchFamily="34" charset="-122"/>
                <a:cs typeface="Times New Roman" panose="02020603050405020304" pitchFamily="34" charset="0"/>
              </a:rPr>
              <a:t>Dr. IMAM FULANI </a:t>
            </a:r>
            <a:endParaRPr lang="en-US" sz="1100" dirty="0">
              <a:solidFill>
                <a:schemeClr val="tx1"/>
              </a:solidFill>
              <a:latin typeface="Times New Roman" panose="02020603050405020304" pitchFamily="34" charset="0"/>
              <a:ea typeface="Arial" panose="020B0604020202020204" pitchFamily="34" charset="-122"/>
              <a:cs typeface="Times New Roman" panose="02020603050405020304" pitchFamily="34" charset="0"/>
            </a:endParaRPr>
          </a:p>
        </p:txBody>
      </p:sp>
      <p:sp>
        <p:nvSpPr>
          <p:cNvPr id="1048766" name="Shape 11"/>
          <p:cNvSpPr/>
          <p:nvPr/>
        </p:nvSpPr>
        <p:spPr>
          <a:xfrm>
            <a:off x="3383280" y="3749040"/>
            <a:ext cx="5303520" cy="36576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1048767" name="Text 12"/>
          <p:cNvSpPr/>
          <p:nvPr/>
        </p:nvSpPr>
        <p:spPr>
          <a:xfrm>
            <a:off x="3383280" y="3840480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  <a:latin typeface="Times New Roman" panose="02020603050405020304" pitchFamily="34" charset="0"/>
                <a:ea typeface="Arial" panose="020B0604020202020204" pitchFamily="34" charset="-122"/>
                <a:cs typeface="Times New Roman" panose="02020603050405020304" pitchFamily="34" charset="0"/>
              </a:rPr>
              <a:t>March, 2026</a:t>
            </a:r>
            <a:endParaRPr lang="en-US" sz="1000" dirty="0">
              <a:solidFill>
                <a:schemeClr val="tx1"/>
              </a:solidFill>
              <a:latin typeface="Times New Roman" panose="02020603050405020304" pitchFamily="34" charset="0"/>
              <a:ea typeface="Arial" panose="020B0604020202020204" pitchFamily="34" charset="-122"/>
              <a:cs typeface="Times New Roman" panose="02020603050405020304" pitchFamily="34" charset="0"/>
            </a:endParaRPr>
          </a:p>
        </p:txBody>
      </p:sp>
      <p:pic>
        <p:nvPicPr>
          <p:cNvPr id="2097154" name="Picture 15" descr="images (100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475" y="870585"/>
            <a:ext cx="940435" cy="940435"/>
          </a:xfrm>
          <a:prstGeom prst="rect">
            <a:avLst/>
          </a:prstGeom>
        </p:spPr>
      </p:pic>
      <p:pic>
        <p:nvPicPr>
          <p:cNvPr id="8" name="Google Shape;29;p3" title="IMG_6382 (1)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647825" y="886778"/>
            <a:ext cx="949960" cy="90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1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chemeClr val="bg1"/>
          </a:solidFill>
        </p:spPr>
      </p:sp>
      <p:sp>
        <p:nvSpPr>
          <p:cNvPr id="1048772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1048773" name="Text 2"/>
          <p:cNvSpPr/>
          <p:nvPr/>
        </p:nvSpPr>
        <p:spPr>
          <a:xfrm>
            <a:off x="137160" y="54864"/>
            <a:ext cx="77724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INTRODUCTION</a:t>
            </a:r>
            <a:endParaRPr lang="en-US" sz="1800" b="1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048774" name="Text 3"/>
          <p:cNvSpPr/>
          <p:nvPr/>
        </p:nvSpPr>
        <p:spPr>
          <a:xfrm>
            <a:off x="8321040" y="54864"/>
            <a:ext cx="685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r">
              <a:buNone/>
            </a:pPr>
            <a:endParaRPr lang="en-US" sz="1600" dirty="0"/>
          </a:p>
        </p:txBody>
      </p:sp>
      <p:sp>
        <p:nvSpPr>
          <p:cNvPr id="1048775" name="Shape 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1048776" name="Text 5"/>
          <p:cNvSpPr/>
          <p:nvPr/>
        </p:nvSpPr>
        <p:spPr>
          <a:xfrm>
            <a:off x="182880" y="4887468"/>
            <a:ext cx="8778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750" dirty="0">
                <a:solidFill>
                  <a:srgbClr val="A0B4C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Smart Attendance System | Dept. of Telecommunication Science | University of Ilorin</a:t>
            </a:r>
            <a:endParaRPr lang="en-US" sz="750" dirty="0"/>
          </a:p>
        </p:txBody>
      </p:sp>
      <p:sp>
        <p:nvSpPr>
          <p:cNvPr id="1048777" name="Shape 6"/>
          <p:cNvSpPr/>
          <p:nvPr/>
        </p:nvSpPr>
        <p:spPr>
          <a:xfrm>
            <a:off x="182880" y="749935"/>
            <a:ext cx="8778875" cy="274320"/>
          </a:xfrm>
          <a:prstGeom prst="rect">
            <a:avLst/>
          </a:prstGeom>
          <a:solidFill>
            <a:srgbClr val="0D1B2A"/>
          </a:solidFill>
        </p:spPr>
        <p:txBody>
          <a:bodyPr/>
          <a:p>
            <a:endParaRPr lang="en-US"/>
          </a:p>
        </p:txBody>
      </p:sp>
      <p:sp>
        <p:nvSpPr>
          <p:cNvPr id="1048778" name="Text 7"/>
          <p:cNvSpPr/>
          <p:nvPr/>
        </p:nvSpPr>
        <p:spPr>
          <a:xfrm>
            <a:off x="228600" y="749935"/>
            <a:ext cx="873315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Background of the Study</a:t>
            </a:r>
            <a:endParaRPr lang="en-US" sz="1600" b="1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048779" name="Text 8"/>
          <p:cNvSpPr/>
          <p:nvPr/>
        </p:nvSpPr>
        <p:spPr>
          <a:xfrm>
            <a:off x="182880" y="1078865"/>
            <a:ext cx="8735695" cy="325755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p>
            <a:pPr marL="0" indent="0" algn="l">
              <a:spcAft>
                <a:spcPts val="400"/>
              </a:spcAft>
              <a:buNone/>
            </a:pPr>
            <a:r>
              <a:rPr sz="1290" b="1">
                <a:solidFill>
                  <a:srgbClr val="071E48"/>
                </a:solidFill>
                <a:latin typeface="Times New Roman" panose="02020603050405020304"/>
              </a:rPr>
              <a:t>Attendance management in higher education is still affected by operational delay and weak proof of physical presence:</a:t>
            </a:r>
            <a:endParaRPr lang="en-US" sz="1400" i="1" dirty="0">
              <a:solidFill>
                <a:srgbClr val="334155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algn="l">
              <a:spcAft>
                <a:spcPts val="400"/>
              </a:spcAft>
            </a:pPr>
            <a:r>
              <a:rPr sz="1280" b="0">
                <a:solidFill>
                  <a:srgbClr val="223046"/>
                </a:solidFill>
                <a:latin typeface="Times New Roman" panose="02020603050405020304"/>
              </a:rPr>
              <a:t>- Manual roll call reduces teaching time and becomes difficult in large classes.</a:t>
            </a:r>
            <a:endParaRPr sz="1280" b="0">
              <a:solidFill>
                <a:srgbClr val="223046"/>
              </a:solidFill>
              <a:latin typeface="Times New Roman" panose="02020603050405020304"/>
            </a:endParaRPr>
          </a:p>
          <a:p>
            <a:pPr algn="l">
              <a:spcAft>
                <a:spcPts val="400"/>
              </a:spcAft>
            </a:pPr>
            <a:r>
              <a:rPr sz="1280" b="0">
                <a:solidFill>
                  <a:srgbClr val="223046"/>
                </a:solidFill>
                <a:latin typeface="Times New Roman" panose="02020603050405020304"/>
              </a:rPr>
              <a:t>- Paper registers can be altered or signed by proxy.</a:t>
            </a:r>
            <a:endParaRPr sz="1280" b="0">
              <a:solidFill>
                <a:srgbClr val="223046"/>
              </a:solidFill>
              <a:latin typeface="Times New Roman" panose="02020603050405020304"/>
            </a:endParaRPr>
          </a:p>
          <a:p>
            <a:pPr algn="l">
              <a:spcAft>
                <a:spcPts val="400"/>
              </a:spcAft>
            </a:pPr>
            <a:r>
              <a:rPr sz="1280" b="0">
                <a:solidFill>
                  <a:srgbClr val="223046"/>
                </a:solidFill>
                <a:latin typeface="Times New Roman" panose="02020603050405020304"/>
              </a:rPr>
              <a:t>- Static QR codes and PINs can be copied or shared outside the classroom.</a:t>
            </a:r>
            <a:endParaRPr sz="1280" b="0">
              <a:solidFill>
                <a:srgbClr val="223046"/>
              </a:solidFill>
              <a:latin typeface="Times New Roman" panose="02020603050405020304"/>
            </a:endParaRPr>
          </a:p>
          <a:p>
            <a:pPr algn="l">
              <a:spcAft>
                <a:spcPts val="400"/>
              </a:spcAft>
            </a:pPr>
            <a:r>
              <a:rPr sz="1280" b="0">
                <a:solidFill>
                  <a:srgbClr val="223046"/>
                </a:solidFill>
                <a:latin typeface="Times New Roman" panose="02020603050405020304"/>
              </a:rPr>
              <a:t>- Login-based systems confirm identity, but may not prove classroom proximity.</a:t>
            </a:r>
            <a:endParaRPr sz="1280" b="0">
              <a:solidFill>
                <a:srgbClr val="223046"/>
              </a:solidFill>
              <a:latin typeface="Times New Roman" panose="02020603050405020304"/>
            </a:endParaRPr>
          </a:p>
          <a:p>
            <a:pPr algn="l">
              <a:spcAft>
                <a:spcPts val="400"/>
              </a:spcAft>
            </a:pPr>
            <a:endParaRPr sz="1280" b="0">
              <a:solidFill>
                <a:srgbClr val="223046"/>
              </a:solidFill>
              <a:latin typeface="Times New Roman" panose="02020603050405020304"/>
            </a:endParaRPr>
          </a:p>
          <a:p>
            <a:pPr algn="l">
              <a:spcAft>
                <a:spcPts val="400"/>
              </a:spcAft>
            </a:pPr>
            <a:r>
              <a:rPr sz="1290" b="0">
                <a:solidFill>
                  <a:srgbClr val="223046"/>
                </a:solidFill>
                <a:latin typeface="Times New Roman" panose="02020603050405020304"/>
              </a:rPr>
              <a:t>From a telecommunications perspective, attendance can be treated as signal verification: the lecturer broadcasts a short-lived proof, the student device receives it through BLE or acoustic scanning, and the backend validates the submitted proof.</a:t>
            </a:r>
            <a:endParaRPr sz="1290" b="0">
              <a:solidFill>
                <a:srgbClr val="223046"/>
              </a:solidFill>
              <a:latin typeface="Times New Roman" panose="02020603050405020304"/>
            </a:endParaRPr>
          </a:p>
          <a:p>
            <a:pPr algn="l">
              <a:spcAft>
                <a:spcPts val="0"/>
              </a:spcAft>
            </a:pPr>
            <a:r>
              <a:rPr sz="1290" b="0">
                <a:solidFill>
                  <a:srgbClr val="223046"/>
                </a:solidFill>
                <a:latin typeface="Times New Roman" panose="02020603050405020304"/>
              </a:rPr>
              <a:t>In the current design, BLE provides the main practical classroom-range signal, acoustic beaconing provides short-range copresence evidence, and the hosted backend handles freshness, replay, duplicate, and device-trust checks.</a:t>
            </a:r>
            <a:endParaRPr sz="1290" b="0">
              <a:solidFill>
                <a:srgbClr val="223046"/>
              </a:solidFill>
              <a:latin typeface="Times New Roman" panose="02020603050405020304"/>
            </a:endParaRPr>
          </a:p>
        </p:txBody>
      </p:sp>
      <p:sp>
        <p:nvSpPr>
          <p:cNvPr id="1048780" name="Shape 23"/>
          <p:cNvSpPr/>
          <p:nvPr/>
        </p:nvSpPr>
        <p:spPr>
          <a:xfrm>
            <a:off x="4663440" y="3904488"/>
            <a:ext cx="4297680" cy="0"/>
          </a:xfrm>
          <a:prstGeom prst="rect">
            <a:avLst/>
          </a:prstGeom>
          <a:solidFill>
            <a:srgbClr val="0891B2"/>
          </a:solid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4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chemeClr val="bg1"/>
          </a:solidFill>
        </p:spPr>
      </p:sp>
      <p:sp>
        <p:nvSpPr>
          <p:cNvPr id="1048785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1048786" name="Text 2"/>
          <p:cNvSpPr/>
          <p:nvPr/>
        </p:nvSpPr>
        <p:spPr>
          <a:xfrm>
            <a:off x="137160" y="54864"/>
            <a:ext cx="77724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LITERATURE REVIEW</a:t>
            </a:r>
            <a:endParaRPr lang="en-US" sz="1800" b="1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048787" name="Text 3"/>
          <p:cNvSpPr/>
          <p:nvPr/>
        </p:nvSpPr>
        <p:spPr>
          <a:xfrm>
            <a:off x="8321040" y="54864"/>
            <a:ext cx="685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r">
              <a:buNone/>
            </a:pPr>
            <a:endParaRPr lang="en-US" sz="1600" dirty="0"/>
          </a:p>
        </p:txBody>
      </p:sp>
      <p:sp>
        <p:nvSpPr>
          <p:cNvPr id="1048788" name="Shape 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1048789" name="Text 5"/>
          <p:cNvSpPr/>
          <p:nvPr/>
        </p:nvSpPr>
        <p:spPr>
          <a:xfrm>
            <a:off x="182880" y="4887468"/>
            <a:ext cx="8778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750" dirty="0">
                <a:solidFill>
                  <a:srgbClr val="A0B4C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Smart Attendance System | Dept. of Telecommunication Science | University of Ilorin</a:t>
            </a:r>
            <a:endParaRPr lang="en-US" sz="750" dirty="0"/>
          </a:p>
        </p:txBody>
      </p:sp>
      <p:graphicFrame>
        <p:nvGraphicFramePr>
          <p:cNvPr id="4194304" name="Table 47"/>
          <p:cNvGraphicFramePr/>
          <p:nvPr>
            <p:custDataLst>
              <p:tags r:id="rId1"/>
            </p:custDataLst>
          </p:nvPr>
        </p:nvGraphicFramePr>
        <p:xfrm>
          <a:off x="0" y="601980"/>
          <a:ext cx="9144000" cy="426529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347345"/>
                <a:gridCol w="2148840"/>
                <a:gridCol w="1261745"/>
                <a:gridCol w="1920240"/>
                <a:gridCol w="1417320"/>
                <a:gridCol w="2048510"/>
              </a:tblGrid>
              <a:tr h="681990">
                <a:tc>
                  <a:txBody>
                    <a:bodyPr wrap="square">
                      <a:spAutoFit/>
                    </a:bodyPr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80" b="1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S/N</a:t>
                      </a:r>
                      <a:endParaRPr sz="1080" b="1">
                        <a:solidFill>
                          <a:srgbClr val="FFFFFF"/>
                        </a:solidFill>
                        <a:latin typeface="Times New Roman" panose="02020603050405020304"/>
                      </a:endParaRPr>
                    </a:p>
                  </a:txBody>
                  <a:tcPr marL="22860" marR="22860" marT="13716" marB="13716" anchor="ctr" anchorCtr="0">
                    <a:solidFill>
                      <a:srgbClr val="071E4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80" b="1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TITLE</a:t>
                      </a:r>
                      <a:endParaRPr sz="1080" b="1">
                        <a:solidFill>
                          <a:srgbClr val="FFFFFF"/>
                        </a:solidFill>
                        <a:latin typeface="Times New Roman" panose="02020603050405020304"/>
                      </a:endParaRPr>
                    </a:p>
                  </a:txBody>
                  <a:tcPr marL="22860" marR="22860" marT="13716" marB="13716" anchor="ctr" anchorCtr="0">
                    <a:solidFill>
                      <a:srgbClr val="071E4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80" b="1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AUTHOR &amp; YEAR</a:t>
                      </a:r>
                      <a:endParaRPr sz="1080" b="1">
                        <a:solidFill>
                          <a:srgbClr val="FFFFFF"/>
                        </a:solidFill>
                        <a:latin typeface="Times New Roman" panose="02020603050405020304"/>
                      </a:endParaRPr>
                    </a:p>
                  </a:txBody>
                  <a:tcPr marL="22860" marR="22860" marT="13716" marB="13716" anchor="ctr" anchorCtr="0">
                    <a:solidFill>
                      <a:srgbClr val="071E4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80" b="1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WORK DONE</a:t>
                      </a:r>
                      <a:endParaRPr sz="1080" b="1">
                        <a:solidFill>
                          <a:srgbClr val="FFFFFF"/>
                        </a:solidFill>
                        <a:latin typeface="Times New Roman" panose="02020603050405020304"/>
                      </a:endParaRPr>
                    </a:p>
                  </a:txBody>
                  <a:tcPr marL="22860" marR="22860" marT="13716" marB="13716" anchor="ctr" anchorCtr="0">
                    <a:solidFill>
                      <a:srgbClr val="071E4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80" b="1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RESULT</a:t>
                      </a:r>
                      <a:endParaRPr sz="1080" b="1">
                        <a:solidFill>
                          <a:srgbClr val="FFFFFF"/>
                        </a:solidFill>
                        <a:latin typeface="Times New Roman" panose="02020603050405020304"/>
                      </a:endParaRPr>
                    </a:p>
                  </a:txBody>
                  <a:tcPr marL="22860" marR="22860" marT="13716" marB="13716" anchor="ctr" anchorCtr="0">
                    <a:solidFill>
                      <a:srgbClr val="071E4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80" b="1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WEAKNESS / GAP</a:t>
                      </a:r>
                      <a:endParaRPr sz="1080" b="1">
                        <a:solidFill>
                          <a:srgbClr val="FFFFFF"/>
                        </a:solidFill>
                        <a:latin typeface="Times New Roman" panose="02020603050405020304"/>
                      </a:endParaRPr>
                    </a:p>
                  </a:txBody>
                  <a:tcPr marL="22860" marR="22860" marT="13716" marB="13716" anchor="ctr" anchorCtr="0">
                    <a:solidFill>
                      <a:srgbClr val="071E48"/>
                    </a:solidFill>
                  </a:tcPr>
                </a:tc>
              </a:tr>
              <a:tr h="683895">
                <a:tc>
                  <a:txBody>
                    <a:bodyPr wrap="square">
                      <a:spAutoFit/>
                    </a:bodyPr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E2A3D"/>
                          </a:solidFill>
                          <a:latin typeface="Times New Roman" panose="02020603050405020304"/>
                        </a:rPr>
                        <a:t>1</a:t>
                      </a:r>
                      <a:endParaRPr sz="1200" b="1">
                        <a:solidFill>
                          <a:srgbClr val="1E2A3D"/>
                        </a:solidFill>
                        <a:latin typeface="Times New Roman" panose="02020603050405020304"/>
                      </a:endParaRPr>
                    </a:p>
                  </a:txBody>
                  <a:tcPr marL="22860" marR="22860" marT="9144" marB="9144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60" b="0">
                          <a:solidFill>
                            <a:srgbClr val="1E2A3D"/>
                          </a:solidFill>
                          <a:latin typeface="Times New Roman" panose="02020603050405020304"/>
                        </a:rPr>
                        <a:t>Location-aware Event Attendance System using QR Code and GPS Technology</a:t>
                      </a:r>
                      <a:endParaRPr sz="1060" b="0">
                        <a:solidFill>
                          <a:srgbClr val="1E2A3D"/>
                        </a:solidFill>
                        <a:latin typeface="Times New Roman" panose="02020603050405020304"/>
                      </a:endParaRPr>
                    </a:p>
                  </a:txBody>
                  <a:tcPr marL="22860" marR="22860" marT="9144" marB="9144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60" b="0">
                          <a:solidFill>
                            <a:srgbClr val="1E2A3D"/>
                          </a:solidFill>
                          <a:latin typeface="Times New Roman" panose="02020603050405020304"/>
                        </a:rPr>
                        <a:t>Ayop et al. (2018)</a:t>
                      </a:r>
                      <a:endParaRPr sz="1060" b="0">
                        <a:solidFill>
                          <a:srgbClr val="1E2A3D"/>
                        </a:solidFill>
                        <a:latin typeface="Times New Roman" panose="02020603050405020304"/>
                      </a:endParaRPr>
                    </a:p>
                  </a:txBody>
                  <a:tcPr marL="22860" marR="22860" marT="9144" marB="9144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60" b="0">
                          <a:solidFill>
                            <a:srgbClr val="1E2A3D"/>
                          </a:solidFill>
                          <a:latin typeface="Times New Roman" panose="02020603050405020304"/>
                        </a:rPr>
                        <a:t>Developed a mobile/web attendance system combining QR code, GPS location, identity and timestamp.</a:t>
                      </a:r>
                      <a:endParaRPr sz="1060" b="0">
                        <a:solidFill>
                          <a:srgbClr val="1E2A3D"/>
                        </a:solidFill>
                        <a:latin typeface="Times New Roman" panose="02020603050405020304"/>
                      </a:endParaRPr>
                    </a:p>
                  </a:txBody>
                  <a:tcPr marL="22860" marR="22860" marT="9144" marB="9144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60" b="0">
                          <a:solidFill>
                            <a:srgbClr val="1E2A3D"/>
                          </a:solidFill>
                          <a:latin typeface="Times New Roman" panose="02020603050405020304"/>
                        </a:rPr>
                        <a:t>Improved attendance tracing and event registration speed.</a:t>
                      </a:r>
                      <a:endParaRPr sz="1060" b="0">
                        <a:solidFill>
                          <a:srgbClr val="1E2A3D"/>
                        </a:solidFill>
                        <a:latin typeface="Times New Roman" panose="02020603050405020304"/>
                      </a:endParaRPr>
                    </a:p>
                  </a:txBody>
                  <a:tcPr marL="22860" marR="22860" marT="9144" marB="9144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60" b="0">
                          <a:solidFill>
                            <a:srgbClr val="1E2A3D"/>
                          </a:solidFill>
                          <a:latin typeface="Times New Roman" panose="02020603050405020304"/>
                        </a:rPr>
                        <a:t>QR codes can still be shared; GPS is less reliable for indoor classroom proximity.</a:t>
                      </a:r>
                      <a:endParaRPr sz="1060" b="0">
                        <a:solidFill>
                          <a:srgbClr val="1E2A3D"/>
                        </a:solidFill>
                        <a:latin typeface="Times New Roman" panose="02020603050405020304"/>
                      </a:endParaRPr>
                    </a:p>
                  </a:txBody>
                  <a:tcPr marL="22860" marR="22860" marT="9144" marB="9144" anchor="ctr" anchorCtr="0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 wrap="square">
                      <a:spAutoFit/>
                    </a:bodyPr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E2A3D"/>
                          </a:solidFill>
                          <a:latin typeface="Times New Roman" panose="02020603050405020304"/>
                        </a:rPr>
                        <a:t>2</a:t>
                      </a:r>
                      <a:endParaRPr sz="1200" b="1">
                        <a:solidFill>
                          <a:srgbClr val="1E2A3D"/>
                        </a:solidFill>
                        <a:latin typeface="Times New Roman" panose="02020603050405020304"/>
                      </a:endParaRPr>
                    </a:p>
                  </a:txBody>
                  <a:tcPr marL="22860" marR="22860" marT="9144" marB="9144" anchor="ctr" anchorCtr="0">
                    <a:solidFill>
                      <a:srgbClr val="F2F7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60" b="0">
                          <a:solidFill>
                            <a:srgbClr val="1E2A3D"/>
                          </a:solidFill>
                          <a:latin typeface="Times New Roman" panose="02020603050405020304"/>
                        </a:rPr>
                        <a:t>Ultrasonic Communication Using Consumer Hardware</a:t>
                      </a:r>
                      <a:endParaRPr sz="1060" b="0">
                        <a:solidFill>
                          <a:srgbClr val="1E2A3D"/>
                        </a:solidFill>
                        <a:latin typeface="Times New Roman" panose="02020603050405020304"/>
                      </a:endParaRPr>
                    </a:p>
                  </a:txBody>
                  <a:tcPr marL="22860" marR="22860" marT="9144" marB="9144" anchor="ctr" anchorCtr="0">
                    <a:solidFill>
                      <a:srgbClr val="F2F7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60" b="0">
                          <a:solidFill>
                            <a:srgbClr val="1E2A3D"/>
                          </a:solidFill>
                          <a:latin typeface="Times New Roman" panose="02020603050405020304"/>
                        </a:rPr>
                        <a:t>Getreuer et al. (2018)</a:t>
                      </a:r>
                      <a:endParaRPr sz="1060" b="0">
                        <a:solidFill>
                          <a:srgbClr val="1E2A3D"/>
                        </a:solidFill>
                        <a:latin typeface="Times New Roman" panose="02020603050405020304"/>
                      </a:endParaRPr>
                    </a:p>
                  </a:txBody>
                  <a:tcPr marL="22860" marR="22860" marT="9144" marB="9144" anchor="ctr" anchorCtr="0">
                    <a:solidFill>
                      <a:srgbClr val="F2F7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60" b="0">
                          <a:solidFill>
                            <a:srgbClr val="1E2A3D"/>
                          </a:solidFill>
                          <a:latin typeface="Times New Roman" panose="02020603050405020304"/>
                        </a:rPr>
                        <a:t>Implemented near-ultrasonic token transmission using commodity smartphone speakers and microphones.</a:t>
                      </a:r>
                      <a:endParaRPr sz="1060" b="0">
                        <a:solidFill>
                          <a:srgbClr val="1E2A3D"/>
                        </a:solidFill>
                        <a:latin typeface="Times New Roman" panose="02020603050405020304"/>
                      </a:endParaRPr>
                    </a:p>
                  </a:txBody>
                  <a:tcPr marL="22860" marR="22860" marT="9144" marB="9144" anchor="ctr" anchorCtr="0">
                    <a:solidFill>
                      <a:srgbClr val="F2F7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60" b="0">
                          <a:solidFill>
                            <a:srgbClr val="1E2A3D"/>
                          </a:solidFill>
                          <a:latin typeface="Times New Roman" panose="02020603050405020304"/>
                        </a:rPr>
                        <a:t>Showed that phones can exchange short copresence tokens acoustically.</a:t>
                      </a:r>
                      <a:endParaRPr sz="1060" b="0">
                        <a:solidFill>
                          <a:srgbClr val="1E2A3D"/>
                        </a:solidFill>
                        <a:latin typeface="Times New Roman" panose="02020603050405020304"/>
                      </a:endParaRPr>
                    </a:p>
                  </a:txBody>
                  <a:tcPr marL="22860" marR="22860" marT="9144" marB="9144" anchor="ctr" anchorCtr="0">
                    <a:solidFill>
                      <a:srgbClr val="F2F7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60" b="0">
                          <a:solidFill>
                            <a:srgbClr val="1E2A3D"/>
                          </a:solidFill>
                          <a:latin typeface="Times New Roman" panose="02020603050405020304"/>
                        </a:rPr>
                        <a:t>Not an attendance system; performance depends on speaker, microphone, distance and noise.</a:t>
                      </a:r>
                      <a:endParaRPr sz="1060" b="0">
                        <a:solidFill>
                          <a:srgbClr val="1E2A3D"/>
                        </a:solidFill>
                        <a:latin typeface="Times New Roman" panose="02020603050405020304"/>
                      </a:endParaRPr>
                    </a:p>
                  </a:txBody>
                  <a:tcPr marL="22860" marR="22860" marT="9144" marB="9144" anchor="ctr" anchorCtr="0">
                    <a:solidFill>
                      <a:srgbClr val="F2F7FF"/>
                    </a:solidFill>
                  </a:tcPr>
                </a:tc>
              </a:tr>
              <a:tr h="681990">
                <a:tc>
                  <a:txBody>
                    <a:bodyPr wrap="square">
                      <a:spAutoFit/>
                    </a:bodyPr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E2A3D"/>
                          </a:solidFill>
                          <a:latin typeface="Times New Roman" panose="02020603050405020304"/>
                        </a:rPr>
                        <a:t>3</a:t>
                      </a:r>
                      <a:endParaRPr sz="1200" b="1">
                        <a:solidFill>
                          <a:srgbClr val="1E2A3D"/>
                        </a:solidFill>
                        <a:latin typeface="Times New Roman" panose="02020603050405020304"/>
                      </a:endParaRPr>
                    </a:p>
                  </a:txBody>
                  <a:tcPr marL="22860" marR="22860" marT="9144" marB="9144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60" b="0">
                          <a:solidFill>
                            <a:srgbClr val="1E2A3D"/>
                          </a:solidFill>
                          <a:latin typeface="Times New Roman" panose="02020603050405020304"/>
                        </a:rPr>
                        <a:t>Neutralizing BLE Beacon-Based Electronic Attendance System Using Signal Imitation Attack</a:t>
                      </a:r>
                      <a:endParaRPr sz="1060" b="0">
                        <a:solidFill>
                          <a:srgbClr val="1E2A3D"/>
                        </a:solidFill>
                        <a:latin typeface="Times New Roman" panose="02020603050405020304"/>
                      </a:endParaRPr>
                    </a:p>
                  </a:txBody>
                  <a:tcPr marL="22860" marR="22860" marT="9144" marB="9144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60" b="0">
                          <a:solidFill>
                            <a:srgbClr val="1E2A3D"/>
                          </a:solidFill>
                          <a:latin typeface="Times New Roman" panose="02020603050405020304"/>
                        </a:rPr>
                        <a:t>Kim et al. (2018)</a:t>
                      </a:r>
                      <a:endParaRPr sz="1060" b="0">
                        <a:solidFill>
                          <a:srgbClr val="1E2A3D"/>
                        </a:solidFill>
                        <a:latin typeface="Times New Roman" panose="02020603050405020304"/>
                      </a:endParaRPr>
                    </a:p>
                  </a:txBody>
                  <a:tcPr marL="22860" marR="22860" marT="9144" marB="9144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60" b="0">
                          <a:solidFill>
                            <a:srgbClr val="1E2A3D"/>
                          </a:solidFill>
                          <a:latin typeface="Times New Roman" panose="02020603050405020304"/>
                        </a:rPr>
                        <a:t>Analyzed BLE beacon attendance systems and demonstrated signal imitation/forwarding risks.</a:t>
                      </a:r>
                      <a:endParaRPr sz="1060" b="0">
                        <a:solidFill>
                          <a:srgbClr val="1E2A3D"/>
                        </a:solidFill>
                        <a:latin typeface="Times New Roman" panose="02020603050405020304"/>
                      </a:endParaRPr>
                    </a:p>
                  </a:txBody>
                  <a:tcPr marL="22860" marR="22860" marT="9144" marB="9144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60" b="0">
                          <a:solidFill>
                            <a:srgbClr val="1E2A3D"/>
                          </a:solidFill>
                          <a:latin typeface="Times New Roman" panose="02020603050405020304"/>
                        </a:rPr>
                        <a:t>Proved that BLE attendance must not trust beacon detection alone.</a:t>
                      </a:r>
                      <a:endParaRPr sz="1060" b="0">
                        <a:solidFill>
                          <a:srgbClr val="1E2A3D"/>
                        </a:solidFill>
                        <a:latin typeface="Times New Roman" panose="02020603050405020304"/>
                      </a:endParaRPr>
                    </a:p>
                  </a:txBody>
                  <a:tcPr marL="22860" marR="22860" marT="9144" marB="9144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60" b="0">
                          <a:solidFill>
                            <a:srgbClr val="1E2A3D"/>
                          </a:solidFill>
                          <a:latin typeface="Times New Roman" panose="02020603050405020304"/>
                        </a:rPr>
                        <a:t>Requires freshness, replay protection and backend validation to reduce attack risk.</a:t>
                      </a:r>
                      <a:endParaRPr sz="1060" b="0">
                        <a:solidFill>
                          <a:srgbClr val="1E2A3D"/>
                        </a:solidFill>
                        <a:latin typeface="Times New Roman" panose="02020603050405020304"/>
                      </a:endParaRPr>
                    </a:p>
                  </a:txBody>
                  <a:tcPr marL="22860" marR="22860" marT="9144" marB="9144" anchor="ctr" anchorCtr="0">
                    <a:solidFill>
                      <a:srgbClr val="FFFFFF"/>
                    </a:solidFill>
                  </a:tcPr>
                </a:tc>
              </a:tr>
              <a:tr h="849630">
                <a:tc>
                  <a:txBody>
                    <a:bodyPr wrap="square">
                      <a:spAutoFit/>
                    </a:bodyPr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E2A3D"/>
                          </a:solidFill>
                          <a:latin typeface="Times New Roman" panose="02020603050405020304"/>
                        </a:rPr>
                        <a:t>4</a:t>
                      </a:r>
                      <a:endParaRPr sz="1200" b="1">
                        <a:solidFill>
                          <a:srgbClr val="1E2A3D"/>
                        </a:solidFill>
                        <a:latin typeface="Times New Roman" panose="02020603050405020304"/>
                      </a:endParaRPr>
                    </a:p>
                  </a:txBody>
                  <a:tcPr marL="22860" marR="22860" marT="9144" marB="9144" anchor="ctr" anchorCtr="0">
                    <a:solidFill>
                      <a:srgbClr val="F2F7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60" b="0">
                          <a:solidFill>
                            <a:srgbClr val="1E2A3D"/>
                          </a:solidFill>
                          <a:latin typeface="Times New Roman" panose="02020603050405020304"/>
                        </a:rPr>
                        <a:t>Classroom Attendance Systems Based on Bluetooth Low Energy Indoor Positioning Technology for Smart Campus</a:t>
                      </a:r>
                      <a:endParaRPr sz="1060" b="0">
                        <a:solidFill>
                          <a:srgbClr val="1E2A3D"/>
                        </a:solidFill>
                        <a:latin typeface="Times New Roman" panose="02020603050405020304"/>
                      </a:endParaRPr>
                    </a:p>
                  </a:txBody>
                  <a:tcPr marL="22860" marR="22860" marT="9144" marB="9144" anchor="ctr" anchorCtr="0">
                    <a:solidFill>
                      <a:srgbClr val="F2F7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60" b="0">
                          <a:solidFill>
                            <a:srgbClr val="1E2A3D"/>
                          </a:solidFill>
                          <a:latin typeface="Times New Roman" panose="02020603050405020304"/>
                        </a:rPr>
                        <a:t>Puckdeevongs et al. (2020)</a:t>
                      </a:r>
                      <a:endParaRPr sz="1060" b="0">
                        <a:solidFill>
                          <a:srgbClr val="1E2A3D"/>
                        </a:solidFill>
                        <a:latin typeface="Times New Roman" panose="02020603050405020304"/>
                      </a:endParaRPr>
                    </a:p>
                  </a:txBody>
                  <a:tcPr marL="22860" marR="22860" marT="9144" marB="9144" anchor="ctr" anchorCtr="0">
                    <a:solidFill>
                      <a:srgbClr val="F2F7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60" b="0">
                          <a:solidFill>
                            <a:srgbClr val="1E2A3D"/>
                          </a:solidFill>
                          <a:latin typeface="Times New Roman" panose="02020603050405020304"/>
                        </a:rPr>
                        <a:t>Used BLE RSSI and indoor-positioning methods to support classroom attendance monitoring.</a:t>
                      </a:r>
                      <a:endParaRPr sz="1060" b="0">
                        <a:solidFill>
                          <a:srgbClr val="1E2A3D"/>
                        </a:solidFill>
                        <a:latin typeface="Times New Roman" panose="02020603050405020304"/>
                      </a:endParaRPr>
                    </a:p>
                  </a:txBody>
                  <a:tcPr marL="22860" marR="22860" marT="9144" marB="9144" anchor="ctr" anchorCtr="0">
                    <a:solidFill>
                      <a:srgbClr val="F2F7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60" b="0">
                          <a:solidFill>
                            <a:srgbClr val="1E2A3D"/>
                          </a:solidFill>
                          <a:latin typeface="Times New Roman" panose="02020603050405020304"/>
                        </a:rPr>
                        <a:t>Demonstrated BLE usefulness for smart-campus attendance and classroom location estimation.</a:t>
                      </a:r>
                      <a:endParaRPr sz="1060" b="0">
                        <a:solidFill>
                          <a:srgbClr val="1E2A3D"/>
                        </a:solidFill>
                        <a:latin typeface="Times New Roman" panose="02020603050405020304"/>
                      </a:endParaRPr>
                    </a:p>
                  </a:txBody>
                  <a:tcPr marL="22860" marR="22860" marT="9144" marB="9144" anchor="ctr" anchorCtr="0">
                    <a:solidFill>
                      <a:srgbClr val="F2F7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60" b="0">
                          <a:solidFill>
                            <a:srgbClr val="1E2A3D"/>
                          </a:solidFill>
                          <a:latin typeface="Times New Roman" panose="02020603050405020304"/>
                        </a:rPr>
                        <a:t>RSSI varies with room layout, obstacles, phone model and beacon placement.</a:t>
                      </a:r>
                      <a:endParaRPr sz="1060" b="0">
                        <a:solidFill>
                          <a:srgbClr val="1E2A3D"/>
                        </a:solidFill>
                        <a:latin typeface="Times New Roman" panose="02020603050405020304"/>
                      </a:endParaRPr>
                    </a:p>
                  </a:txBody>
                  <a:tcPr marL="22860" marR="22860" marT="9144" marB="9144" anchor="ctr" anchorCtr="0">
                    <a:solidFill>
                      <a:srgbClr val="F2F7FF"/>
                    </a:solidFill>
                  </a:tcPr>
                </a:tc>
              </a:tr>
              <a:tr h="683895">
                <a:tc>
                  <a:txBody>
                    <a:bodyPr wrap="square">
                      <a:spAutoFit/>
                    </a:bodyPr>
                    <a:p>
                      <a:pPr algn="l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sz="1060">
                          <a:solidFill>
                            <a:srgbClr val="1E2A3D"/>
                          </a:solidFill>
                          <a:latin typeface="Times New Roman" panose="02020603050405020304"/>
                        </a:rPr>
                        <a:t>5</a:t>
                      </a:r>
                      <a:endParaRPr sz="1060">
                        <a:solidFill>
                          <a:srgbClr val="1E2A3D"/>
                        </a:solidFill>
                        <a:latin typeface="Times New Roman" panose="02020603050405020304"/>
                      </a:endParaRPr>
                    </a:p>
                  </a:txBody>
                  <a:tcPr marL="22860" marR="22860" marT="9144" marB="9144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algn="l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sz="1060" b="0">
                          <a:solidFill>
                            <a:srgbClr val="1E2A3D"/>
                          </a:solidFill>
                          <a:latin typeface="Times New Roman" panose="02020603050405020304"/>
                        </a:rPr>
                        <a:t>A Practice of BLE RSSI Measurement for Indoor Positioning</a:t>
                      </a:r>
                      <a:endParaRPr sz="1060" b="0">
                        <a:solidFill>
                          <a:srgbClr val="1E2A3D"/>
                        </a:solidFill>
                        <a:latin typeface="Times New Roman" panose="02020603050405020304"/>
                      </a:endParaRPr>
                    </a:p>
                  </a:txBody>
                  <a:tcPr marL="22860" marR="22860" marT="9144" marB="9144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algn="l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sz="1060" b="0">
                          <a:solidFill>
                            <a:srgbClr val="1E2A3D"/>
                          </a:solidFill>
                          <a:latin typeface="Times New Roman" panose="02020603050405020304"/>
                        </a:rPr>
                        <a:t>Ramirez et al. (2021)</a:t>
                      </a:r>
                      <a:endParaRPr sz="1060" b="0">
                        <a:solidFill>
                          <a:srgbClr val="1E2A3D"/>
                        </a:solidFill>
                        <a:latin typeface="Times New Roman" panose="02020603050405020304"/>
                      </a:endParaRPr>
                    </a:p>
                  </a:txBody>
                  <a:tcPr marL="22860" marR="22860" marT="9144" marB="9144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algn="l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sz="1060" b="0">
                          <a:solidFill>
                            <a:srgbClr val="1E2A3D"/>
                          </a:solidFill>
                          <a:latin typeface="Times New Roman" panose="02020603050405020304"/>
                        </a:rPr>
                        <a:t>Studied practical BLE RSSI measurements for indoor positioning and proximity analysis.</a:t>
                      </a:r>
                      <a:endParaRPr sz="1060" b="0">
                        <a:solidFill>
                          <a:srgbClr val="1E2A3D"/>
                        </a:solidFill>
                        <a:latin typeface="Times New Roman" panose="02020603050405020304"/>
                      </a:endParaRPr>
                    </a:p>
                  </a:txBody>
                  <a:tcPr marL="22860" marR="22860" marT="9144" marB="9144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algn="l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sz="1060" b="0">
                          <a:solidFill>
                            <a:srgbClr val="1E2A3D"/>
                          </a:solidFill>
                          <a:latin typeface="Times New Roman" panose="02020603050405020304"/>
                        </a:rPr>
                        <a:t>Showed that BLE RSSI can support indoor proximity estimation.</a:t>
                      </a:r>
                      <a:endParaRPr sz="1060" b="0">
                        <a:solidFill>
                          <a:srgbClr val="1E2A3D"/>
                        </a:solidFill>
                        <a:latin typeface="Times New Roman" panose="02020603050405020304"/>
                      </a:endParaRPr>
                    </a:p>
                  </a:txBody>
                  <a:tcPr marL="22860" marR="22860" marT="9144" marB="9144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algn="l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sz="1060" b="0">
                          <a:solidFill>
                            <a:srgbClr val="1E2A3D"/>
                          </a:solidFill>
                          <a:latin typeface="Times New Roman" panose="02020603050405020304"/>
                        </a:rPr>
                        <a:t>RSSI fluctuates due to device differences, obstacles, orientation and indoor conditions.</a:t>
                      </a:r>
                      <a:endParaRPr sz="1060" b="0">
                        <a:solidFill>
                          <a:srgbClr val="1E2A3D"/>
                        </a:solidFill>
                        <a:latin typeface="Times New Roman" panose="02020603050405020304"/>
                      </a:endParaRPr>
                    </a:p>
                  </a:txBody>
                  <a:tcPr marL="22860" marR="22860" marT="9144" marB="9144" anchor="ctr" anchorCtr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3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chemeClr val="bg1"/>
          </a:solidFill>
        </p:spPr>
      </p:sp>
      <p:sp>
        <p:nvSpPr>
          <p:cNvPr id="1048794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1048795" name="Text 2"/>
          <p:cNvSpPr/>
          <p:nvPr/>
        </p:nvSpPr>
        <p:spPr>
          <a:xfrm>
            <a:off x="137160" y="54864"/>
            <a:ext cx="77724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endParaRPr lang="en-US" sz="1800" b="1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048796" name="Text 3"/>
          <p:cNvSpPr/>
          <p:nvPr/>
        </p:nvSpPr>
        <p:spPr>
          <a:xfrm>
            <a:off x="8321040" y="54864"/>
            <a:ext cx="685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r">
              <a:buNone/>
            </a:pPr>
            <a:endParaRPr lang="en-US" sz="1600" dirty="0"/>
          </a:p>
        </p:txBody>
      </p:sp>
      <p:sp>
        <p:nvSpPr>
          <p:cNvPr id="1048797" name="Shape 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1048798" name="Text 5"/>
          <p:cNvSpPr/>
          <p:nvPr/>
        </p:nvSpPr>
        <p:spPr>
          <a:xfrm>
            <a:off x="182880" y="4887468"/>
            <a:ext cx="8778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750" dirty="0">
                <a:solidFill>
                  <a:srgbClr val="A0B4C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Smart Attendance System | Dept. of Telecommunication Science | University of Ilorin</a:t>
            </a:r>
            <a:endParaRPr lang="en-US" sz="750" dirty="0"/>
          </a:p>
        </p:txBody>
      </p:sp>
      <p:sp>
        <p:nvSpPr>
          <p:cNvPr id="1048799" name="Shape 9"/>
          <p:cNvSpPr/>
          <p:nvPr/>
        </p:nvSpPr>
        <p:spPr>
          <a:xfrm>
            <a:off x="160655" y="749935"/>
            <a:ext cx="8800465" cy="446405"/>
          </a:xfrm>
          <a:prstGeom prst="rect">
            <a:avLst/>
          </a:prstGeom>
          <a:solidFill>
            <a:srgbClr val="1B4F8A"/>
          </a:solidFill>
        </p:spPr>
      </p:sp>
      <p:sp>
        <p:nvSpPr>
          <p:cNvPr id="1048800" name="Text 10"/>
          <p:cNvSpPr/>
          <p:nvPr/>
        </p:nvSpPr>
        <p:spPr>
          <a:xfrm>
            <a:off x="196850" y="749935"/>
            <a:ext cx="8718550" cy="432435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45720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Problem Statement</a:t>
            </a:r>
            <a:endParaRPr lang="en-US" sz="1600" b="1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048801" name="Shape 11"/>
          <p:cNvSpPr/>
          <p:nvPr>
            <p:custDataLst>
              <p:tags r:id="rId1"/>
            </p:custDataLst>
          </p:nvPr>
        </p:nvSpPr>
        <p:spPr>
          <a:xfrm>
            <a:off x="241935" y="1297940"/>
            <a:ext cx="8728710" cy="3357880"/>
          </a:xfrm>
          <a:prstGeom prst="rect">
            <a:avLst/>
          </a:prstGeom>
          <a:solidFill>
            <a:srgbClr val="F5F7FA"/>
          </a:solidFill>
        </p:spPr>
        <p:txBody>
          <a:bodyPr/>
          <a:p>
            <a:endParaRPr lang="en-US"/>
          </a:p>
        </p:txBody>
      </p:sp>
      <p:sp>
        <p:nvSpPr>
          <p:cNvPr id="1048802" name="Shape 12"/>
          <p:cNvSpPr/>
          <p:nvPr>
            <p:custDataLst>
              <p:tags r:id="rId2"/>
            </p:custDataLst>
          </p:nvPr>
        </p:nvSpPr>
        <p:spPr>
          <a:xfrm>
            <a:off x="177165" y="1297940"/>
            <a:ext cx="76200" cy="3364865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1048803" name="Text 14"/>
          <p:cNvSpPr/>
          <p:nvPr>
            <p:custDataLst>
              <p:tags r:id="rId3"/>
            </p:custDataLst>
          </p:nvPr>
        </p:nvSpPr>
        <p:spPr>
          <a:xfrm>
            <a:off x="423545" y="1343025"/>
            <a:ext cx="8409940" cy="3176270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p>
            <a:pPr marL="0" indent="0" algn="l">
              <a:spcAft>
                <a:spcPts val="400"/>
              </a:spcAft>
              <a:buNone/>
            </a:pPr>
            <a:r>
              <a:rPr sz="1230" b="1">
                <a:solidFill>
                  <a:srgbClr val="071E48"/>
                </a:solidFill>
                <a:latin typeface="Times New Roman" panose="02020603050405020304"/>
              </a:rPr>
              <a:t>Attendance in many higher-education classrooms is still recorded through manual roll calls, paper registers, static QR codes, or PIN-based systems. These approaches may record names, but they often do not provide strong evidence that the authenticated student is physically present in the classroom.</a:t>
            </a:r>
            <a:endParaRPr lang="en-US" altLang="en-US" sz="1400" dirty="0"/>
          </a:p>
          <a:p>
            <a:pPr algn="l">
              <a:spcAft>
                <a:spcPts val="400"/>
              </a:spcAft>
            </a:pPr>
            <a:r>
              <a:rPr sz="1245" b="0">
                <a:solidFill>
                  <a:srgbClr val="202D41"/>
                </a:solidFill>
                <a:latin typeface="Times New Roman" panose="02020603050405020304"/>
              </a:rPr>
              <a:t>- Manual attendance wastes teaching time, especially in medium and large classes.</a:t>
            </a:r>
            <a:endParaRPr sz="1245" b="0">
              <a:solidFill>
                <a:srgbClr val="202D41"/>
              </a:solidFill>
              <a:latin typeface="Times New Roman" panose="02020603050405020304"/>
            </a:endParaRPr>
          </a:p>
          <a:p>
            <a:pPr algn="l">
              <a:spcAft>
                <a:spcPts val="400"/>
              </a:spcAft>
            </a:pPr>
            <a:r>
              <a:rPr sz="1245" b="0">
                <a:solidFill>
                  <a:srgbClr val="202D41"/>
                </a:solidFill>
                <a:latin typeface="Times New Roman" panose="02020603050405020304"/>
              </a:rPr>
              <a:t>- Paper registers and shared codes are vulnerable to proxy attendance and tampering.</a:t>
            </a:r>
            <a:endParaRPr sz="1245" b="0">
              <a:solidFill>
                <a:srgbClr val="202D41"/>
              </a:solidFill>
              <a:latin typeface="Times New Roman" panose="02020603050405020304"/>
            </a:endParaRPr>
          </a:p>
          <a:p>
            <a:pPr algn="l">
              <a:spcAft>
                <a:spcPts val="400"/>
              </a:spcAft>
            </a:pPr>
            <a:r>
              <a:rPr sz="1245" b="0">
                <a:solidFill>
                  <a:srgbClr val="202D41"/>
                </a:solidFill>
                <a:latin typeface="Times New Roman" panose="02020603050405020304"/>
              </a:rPr>
              <a:t>- QR codes, PINs, and login-only systems can be copied, forwarded, or reused outside the intended classroom context.</a:t>
            </a:r>
            <a:endParaRPr sz="1245" b="0">
              <a:solidFill>
                <a:srgbClr val="202D41"/>
              </a:solidFill>
              <a:latin typeface="Times New Roman" panose="02020603050405020304"/>
            </a:endParaRPr>
          </a:p>
          <a:p>
            <a:pPr algn="l">
              <a:spcAft>
                <a:spcPts val="400"/>
              </a:spcAft>
            </a:pPr>
            <a:r>
              <a:rPr sz="1245" b="0">
                <a:solidFill>
                  <a:srgbClr val="202D41"/>
                </a:solidFill>
                <a:latin typeface="Times New Roman" panose="02020603050405020304"/>
              </a:rPr>
              <a:t>- Many existing systems verify identity but do not adequately verify proximity, signal freshness, replay resistance, or device trust.</a:t>
            </a:r>
            <a:endParaRPr sz="1245" b="0">
              <a:solidFill>
                <a:srgbClr val="202D41"/>
              </a:solidFill>
              <a:latin typeface="Times New Roman" panose="02020603050405020304"/>
            </a:endParaRPr>
          </a:p>
          <a:p>
            <a:pPr algn="l">
              <a:spcAft>
                <a:spcPts val="400"/>
              </a:spcAft>
            </a:pPr>
            <a:endParaRPr sz="1245" b="0">
              <a:solidFill>
                <a:srgbClr val="202D41"/>
              </a:solidFill>
              <a:latin typeface="Times New Roman" panose="02020603050405020304"/>
            </a:endParaRPr>
          </a:p>
          <a:p>
            <a:pPr algn="l">
              <a:spcAft>
                <a:spcPts val="0"/>
              </a:spcAft>
            </a:pPr>
            <a:r>
              <a:rPr sz="1230" b="1">
                <a:solidFill>
                  <a:srgbClr val="071E48"/>
                </a:solidFill>
                <a:latin typeface="Times New Roman" panose="02020603050405020304"/>
              </a:rPr>
              <a:t>Therefore, the problem addressed by this project is the need for a mobile attendance system that combines session-specific proximity proof with backend validation, so that attendance submissions are faster, harder to duplicate, and more resistant to proxy or replay-based abuse.</a:t>
            </a:r>
            <a:endParaRPr sz="1230" b="1">
              <a:solidFill>
                <a:srgbClr val="071E48"/>
              </a:solidFill>
              <a:latin typeface="Times New Roman" panose="02020603050405020304"/>
            </a:endParaRPr>
          </a:p>
        </p:txBody>
      </p:sp>
      <p:sp>
        <p:nvSpPr>
          <p:cNvPr id="1048804" name="Shape 23"/>
          <p:cNvSpPr/>
          <p:nvPr/>
        </p:nvSpPr>
        <p:spPr>
          <a:xfrm>
            <a:off x="4663440" y="3904488"/>
            <a:ext cx="4297680" cy="0"/>
          </a:xfrm>
          <a:prstGeom prst="rect">
            <a:avLst/>
          </a:prstGeom>
          <a:solidFill>
            <a:srgbClr val="0891B2"/>
          </a:solid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8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chemeClr val="bg1"/>
          </a:solidFill>
        </p:spPr>
      </p:sp>
      <p:sp>
        <p:nvSpPr>
          <p:cNvPr id="1048809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1048810" name="Text 2"/>
          <p:cNvSpPr/>
          <p:nvPr/>
        </p:nvSpPr>
        <p:spPr>
          <a:xfrm>
            <a:off x="137160" y="140589"/>
            <a:ext cx="77724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AIM AND OBJECTIVES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048811" name="Text 3"/>
          <p:cNvSpPr/>
          <p:nvPr/>
        </p:nvSpPr>
        <p:spPr>
          <a:xfrm>
            <a:off x="8321040" y="54864"/>
            <a:ext cx="685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r">
              <a:buNone/>
            </a:pPr>
            <a:endParaRPr lang="en-US" sz="2000" dirty="0"/>
          </a:p>
        </p:txBody>
      </p:sp>
      <p:sp>
        <p:nvSpPr>
          <p:cNvPr id="1048812" name="Shape 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1048813" name="Text 5"/>
          <p:cNvSpPr/>
          <p:nvPr/>
        </p:nvSpPr>
        <p:spPr>
          <a:xfrm>
            <a:off x="182880" y="4887468"/>
            <a:ext cx="8778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Smart Attendance System | Dept. of Telecommunication Science | University of Ilorin</a:t>
            </a:r>
            <a:endParaRPr lang="en-US" sz="950" dirty="0">
              <a:solidFill>
                <a:srgbClr val="A0B4C8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048814" name="Shape 6"/>
          <p:cNvSpPr/>
          <p:nvPr/>
        </p:nvSpPr>
        <p:spPr>
          <a:xfrm>
            <a:off x="182880" y="831850"/>
            <a:ext cx="8778240" cy="6496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sp>
      <p:sp>
        <p:nvSpPr>
          <p:cNvPr id="1048815" name="Shape 7"/>
          <p:cNvSpPr/>
          <p:nvPr/>
        </p:nvSpPr>
        <p:spPr>
          <a:xfrm>
            <a:off x="182880" y="825500"/>
            <a:ext cx="76200" cy="649605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1048816" name="Text 8"/>
          <p:cNvSpPr/>
          <p:nvPr/>
        </p:nvSpPr>
        <p:spPr>
          <a:xfrm>
            <a:off x="320040" y="859282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AIM:</a:t>
            </a:r>
            <a:endParaRPr lang="en-US" sz="1000" b="1" dirty="0">
              <a:solidFill>
                <a:srgbClr val="0891B2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048817" name="Text 9"/>
          <p:cNvSpPr/>
          <p:nvPr/>
        </p:nvSpPr>
        <p:spPr>
          <a:xfrm>
            <a:off x="320040" y="1087882"/>
            <a:ext cx="8503920" cy="274320"/>
          </a:xfrm>
          <a:prstGeom prst="rect">
            <a:avLst/>
          </a:prstGeom>
          <a:noFill/>
        </p:spPr>
        <p:txBody>
          <a:bodyPr wrap="square" lIns="25400" tIns="12700" rIns="25400" bIns="12700" rtlCol="0" anchor="ctr">
            <a:noAutofit/>
          </a:bodyPr>
          <a:p>
            <a:pPr marL="0" indent="0" algn="l">
              <a:buNone/>
            </a:pPr>
            <a:r>
              <a:rPr sz="1200" b="1">
                <a:solidFill>
                  <a:srgbClr val="071E48"/>
                </a:solidFill>
                <a:latin typeface="Times New Roman" panose="02020603050405020304"/>
              </a:rPr>
              <a:t>To design and implement a secure, role-aware smart attendance system that uses BLE and acoustic proximity proof with hosted backend validation to reduce fraud and attendance processing delay.</a:t>
            </a:r>
            <a:endParaRPr lang="en-US" sz="1200" b="1" dirty="0">
              <a:solidFill>
                <a:srgbClr val="071E48"/>
              </a:solidFill>
              <a:latin typeface="Times New Roman" panose="02020603050405020304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048818" name="Text 10"/>
          <p:cNvSpPr/>
          <p:nvPr/>
        </p:nvSpPr>
        <p:spPr>
          <a:xfrm>
            <a:off x="182880" y="158826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OBJECTIVES:</a:t>
            </a:r>
            <a:endParaRPr lang="en-US" sz="1400" b="1" dirty="0">
              <a:solidFill>
                <a:srgbClr val="0D1B2A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048819" name="Shape 11"/>
          <p:cNvSpPr/>
          <p:nvPr>
            <p:custDataLst>
              <p:tags r:id="rId1"/>
            </p:custDataLst>
          </p:nvPr>
        </p:nvSpPr>
        <p:spPr>
          <a:xfrm>
            <a:off x="182880" y="1969008"/>
            <a:ext cx="4251960" cy="594360"/>
          </a:xfrm>
          <a:prstGeom prst="rect">
            <a:avLst/>
          </a:prstGeom>
          <a:solidFill>
            <a:srgbClr val="F5F7FA"/>
          </a:solidFill>
        </p:spPr>
      </p:sp>
      <p:sp>
        <p:nvSpPr>
          <p:cNvPr id="1048820" name="Shape 12"/>
          <p:cNvSpPr/>
          <p:nvPr>
            <p:custDataLst>
              <p:tags r:id="rId2"/>
            </p:custDataLst>
          </p:nvPr>
        </p:nvSpPr>
        <p:spPr>
          <a:xfrm>
            <a:off x="182880" y="1969008"/>
            <a:ext cx="292608" cy="59436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1048821" name="Text 13"/>
          <p:cNvSpPr/>
          <p:nvPr>
            <p:custDataLst>
              <p:tags r:id="rId3"/>
            </p:custDataLst>
          </p:nvPr>
        </p:nvSpPr>
        <p:spPr>
          <a:xfrm>
            <a:off x="182880" y="209702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400" b="1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048822" name="Text 14"/>
          <p:cNvSpPr/>
          <p:nvPr>
            <p:custDataLst>
              <p:tags r:id="rId4"/>
            </p:custDataLst>
          </p:nvPr>
        </p:nvSpPr>
        <p:spPr>
          <a:xfrm>
            <a:off x="530352" y="2023872"/>
            <a:ext cx="3840480" cy="475488"/>
          </a:xfrm>
          <a:prstGeom prst="rect">
            <a:avLst/>
          </a:prstGeom>
          <a:noFill/>
        </p:spPr>
        <p:txBody>
          <a:bodyPr wrap="square" lIns="25400" tIns="12700" rIns="25400" bIns="12700" rtlCol="0" anchor="ctr">
            <a:normAutofit/>
          </a:bodyPr>
          <a:p>
            <a:pPr marL="0" indent="0" algn="l">
              <a:buNone/>
              <a:defRPr>
                <a:solidFill/>
              </a:defRPr>
            </a:pPr>
            <a:r>
              <a:rPr sz="1080" b="0">
                <a:solidFill>
                  <a:srgbClr val="202D41"/>
                </a:solidFill>
                <a:latin typeface="Times New Roman" panose="02020603050405020304"/>
              </a:rPr>
              <a:t>Design a mobile-based smart attendance system for creating and broadcasting session-specific attendance signals.</a:t>
            </a:r>
            <a:endParaRPr lang="en-US" sz="1080" b="0" dirty="0">
              <a:solidFill>
                <a:srgbClr val="202D41"/>
              </a:solidFill>
              <a:latin typeface="Times New Roman" panose="02020603050405020304"/>
              <a:ea typeface="Times New Roman" panose="02020603050405020304" pitchFamily="34" charset="-122"/>
              <a:cs typeface="Times New Roman" panose="02020603050405020304" pitchFamily="34" charset="-120"/>
              <a:sym typeface="+mn-ea"/>
            </a:endParaRPr>
          </a:p>
        </p:txBody>
      </p:sp>
      <p:sp>
        <p:nvSpPr>
          <p:cNvPr id="1048823" name="Shape 15"/>
          <p:cNvSpPr/>
          <p:nvPr>
            <p:custDataLst>
              <p:tags r:id="rId5"/>
            </p:custDataLst>
          </p:nvPr>
        </p:nvSpPr>
        <p:spPr>
          <a:xfrm>
            <a:off x="4617720" y="1969008"/>
            <a:ext cx="4251960" cy="594360"/>
          </a:xfrm>
          <a:prstGeom prst="rect">
            <a:avLst/>
          </a:prstGeom>
          <a:solidFill>
            <a:srgbClr val="F5F7FA"/>
          </a:solidFill>
        </p:spPr>
      </p:sp>
      <p:sp>
        <p:nvSpPr>
          <p:cNvPr id="1048824" name="Shape 16"/>
          <p:cNvSpPr/>
          <p:nvPr>
            <p:custDataLst>
              <p:tags r:id="rId6"/>
            </p:custDataLst>
          </p:nvPr>
        </p:nvSpPr>
        <p:spPr>
          <a:xfrm>
            <a:off x="4617720" y="1969008"/>
            <a:ext cx="292608" cy="59436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1048825" name="Text 17"/>
          <p:cNvSpPr/>
          <p:nvPr>
            <p:custDataLst>
              <p:tags r:id="rId7"/>
            </p:custDataLst>
          </p:nvPr>
        </p:nvSpPr>
        <p:spPr>
          <a:xfrm>
            <a:off x="4617720" y="209702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400" b="1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048826" name="Text 18"/>
          <p:cNvSpPr/>
          <p:nvPr>
            <p:custDataLst>
              <p:tags r:id="rId8"/>
            </p:custDataLst>
          </p:nvPr>
        </p:nvSpPr>
        <p:spPr>
          <a:xfrm>
            <a:off x="4965192" y="2023872"/>
            <a:ext cx="3840480" cy="475488"/>
          </a:xfrm>
          <a:prstGeom prst="rect">
            <a:avLst/>
          </a:prstGeom>
          <a:noFill/>
        </p:spPr>
        <p:txBody>
          <a:bodyPr wrap="square" lIns="25400" tIns="12700" rIns="25400" bIns="12700" rtlCol="0" anchor="ctr">
            <a:noAutofit/>
          </a:bodyPr>
          <a:p>
            <a:pPr marL="0" indent="0" algn="l">
              <a:buNone/>
              <a:defRPr>
                <a:solidFill/>
              </a:defRPr>
            </a:pPr>
            <a:r>
              <a:rPr sz="1080" b="0">
                <a:solidFill>
                  <a:srgbClr val="202D41"/>
                </a:solidFill>
                <a:latin typeface="Times New Roman" panose="02020603050405020304"/>
              </a:rPr>
              <a:t>Implement proximity verification using Bluetooth Low Energy as the main classroom-range signal and acoustic beaconing as short-range copresence evidence.</a:t>
            </a:r>
            <a:endParaRPr lang="en-US" sz="1080" b="0" dirty="0">
              <a:solidFill>
                <a:srgbClr val="202D41"/>
              </a:solidFill>
              <a:latin typeface="Times New Roman" panose="02020603050405020304"/>
              <a:ea typeface="Times New Roman" panose="02020603050405020304" pitchFamily="34" charset="-122"/>
              <a:cs typeface="Times New Roman" panose="02020603050405020304" pitchFamily="34" charset="-120"/>
              <a:sym typeface="+mn-ea"/>
            </a:endParaRPr>
          </a:p>
        </p:txBody>
      </p:sp>
      <p:sp>
        <p:nvSpPr>
          <p:cNvPr id="1048827" name="Shape 19"/>
          <p:cNvSpPr/>
          <p:nvPr>
            <p:custDataLst>
              <p:tags r:id="rId9"/>
            </p:custDataLst>
          </p:nvPr>
        </p:nvSpPr>
        <p:spPr>
          <a:xfrm>
            <a:off x="182880" y="2627376"/>
            <a:ext cx="4251960" cy="594360"/>
          </a:xfrm>
          <a:prstGeom prst="rect">
            <a:avLst/>
          </a:prstGeom>
          <a:solidFill>
            <a:srgbClr val="E8F4F8"/>
          </a:solidFill>
        </p:spPr>
      </p:sp>
      <p:sp>
        <p:nvSpPr>
          <p:cNvPr id="1048828" name="Shape 20"/>
          <p:cNvSpPr/>
          <p:nvPr>
            <p:custDataLst>
              <p:tags r:id="rId10"/>
            </p:custDataLst>
          </p:nvPr>
        </p:nvSpPr>
        <p:spPr>
          <a:xfrm>
            <a:off x="182880" y="2627376"/>
            <a:ext cx="292608" cy="59436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1048829" name="Text 21"/>
          <p:cNvSpPr/>
          <p:nvPr>
            <p:custDataLst>
              <p:tags r:id="rId11"/>
            </p:custDataLst>
          </p:nvPr>
        </p:nvSpPr>
        <p:spPr>
          <a:xfrm>
            <a:off x="182880" y="275539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400" b="1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048830" name="Text 22"/>
          <p:cNvSpPr/>
          <p:nvPr>
            <p:custDataLst>
              <p:tags r:id="rId12"/>
            </p:custDataLst>
          </p:nvPr>
        </p:nvSpPr>
        <p:spPr>
          <a:xfrm>
            <a:off x="530352" y="2682240"/>
            <a:ext cx="3840480" cy="475488"/>
          </a:xfrm>
          <a:prstGeom prst="rect">
            <a:avLst/>
          </a:prstGeom>
          <a:noFill/>
        </p:spPr>
        <p:txBody>
          <a:bodyPr wrap="square" lIns="25400" tIns="12700" rIns="25400" bIns="12700" rtlCol="0" anchor="ctr">
            <a:noAutofit/>
          </a:bodyPr>
          <a:p>
            <a:pPr marL="0" indent="0" algn="l">
              <a:buNone/>
              <a:defRPr>
                <a:solidFill/>
              </a:defRPr>
            </a:pPr>
            <a:r>
              <a:rPr sz="1080" b="0">
                <a:solidFill>
                  <a:srgbClr val="202D41"/>
                </a:solidFill>
                <a:latin typeface="Times New Roman" panose="02020603050405020304"/>
              </a:rPr>
              <a:t>Develop a hosted backend validation system using session identity, freshness, duplicate prevention, replay protection, and device-trust checks.</a:t>
            </a:r>
            <a:endParaRPr lang="en-US" sz="1080" b="0" dirty="0">
              <a:solidFill>
                <a:srgbClr val="202D41"/>
              </a:solidFill>
              <a:latin typeface="Times New Roman" panose="02020603050405020304"/>
              <a:ea typeface="Times New Roman" panose="02020603050405020304" pitchFamily="34" charset="-122"/>
              <a:cs typeface="Times New Roman" panose="02020603050405020304" pitchFamily="34" charset="-120"/>
              <a:sym typeface="+mn-ea"/>
            </a:endParaRPr>
          </a:p>
        </p:txBody>
      </p:sp>
      <p:sp>
        <p:nvSpPr>
          <p:cNvPr id="1048831" name="Shape 23"/>
          <p:cNvSpPr/>
          <p:nvPr>
            <p:custDataLst>
              <p:tags r:id="rId13"/>
            </p:custDataLst>
          </p:nvPr>
        </p:nvSpPr>
        <p:spPr>
          <a:xfrm>
            <a:off x="4617720" y="2627376"/>
            <a:ext cx="4251960" cy="594360"/>
          </a:xfrm>
          <a:prstGeom prst="rect">
            <a:avLst/>
          </a:prstGeom>
          <a:solidFill>
            <a:srgbClr val="E8F4F8"/>
          </a:solidFill>
        </p:spPr>
      </p:sp>
      <p:sp>
        <p:nvSpPr>
          <p:cNvPr id="1048832" name="Shape 24"/>
          <p:cNvSpPr/>
          <p:nvPr>
            <p:custDataLst>
              <p:tags r:id="rId14"/>
            </p:custDataLst>
          </p:nvPr>
        </p:nvSpPr>
        <p:spPr>
          <a:xfrm>
            <a:off x="4617720" y="2627376"/>
            <a:ext cx="292608" cy="59436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1048833" name="Text 25"/>
          <p:cNvSpPr/>
          <p:nvPr>
            <p:custDataLst>
              <p:tags r:id="rId15"/>
            </p:custDataLst>
          </p:nvPr>
        </p:nvSpPr>
        <p:spPr>
          <a:xfrm>
            <a:off x="4617720" y="275539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400" b="1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048834" name="Text 26"/>
          <p:cNvSpPr/>
          <p:nvPr>
            <p:custDataLst>
              <p:tags r:id="rId16"/>
            </p:custDataLst>
          </p:nvPr>
        </p:nvSpPr>
        <p:spPr>
          <a:xfrm>
            <a:off x="4965192" y="2682240"/>
            <a:ext cx="3840480" cy="475488"/>
          </a:xfrm>
          <a:prstGeom prst="rect">
            <a:avLst/>
          </a:prstGeom>
          <a:noFill/>
        </p:spPr>
        <p:txBody>
          <a:bodyPr wrap="square" lIns="25400" tIns="12700" rIns="25400" bIns="12700" rtlCol="0" anchor="ctr">
            <a:normAutofit/>
          </a:bodyPr>
          <a:p>
            <a:pPr marL="0" indent="0" algn="l">
              <a:buNone/>
              <a:defRPr>
                <a:solidFill/>
              </a:defRPr>
            </a:pPr>
            <a:r>
              <a:rPr sz="1080" b="0">
                <a:solidFill>
                  <a:srgbClr val="202D41"/>
                </a:solidFill>
                <a:latin typeface="Times New Roman" panose="02020603050405020304"/>
              </a:rPr>
              <a:t>Provide lecturer and student interfaces for scanning, proof submission, attendance history, validation reports, and CSV export.</a:t>
            </a:r>
            <a:endParaRPr lang="en-US" sz="1080" b="0" dirty="0">
              <a:solidFill>
                <a:srgbClr val="202D41"/>
              </a:solidFill>
              <a:latin typeface="Times New Roman" panose="02020603050405020304"/>
              <a:ea typeface="Times New Roman" panose="02020603050405020304" pitchFamily="34" charset="-122"/>
              <a:cs typeface="Times New Roman" panose="02020603050405020304" pitchFamily="34" charset="-120"/>
              <a:sym typeface="+mn-ea"/>
            </a:endParaRPr>
          </a:p>
        </p:txBody>
      </p:sp>
      <p:sp>
        <p:nvSpPr>
          <p:cNvPr id="1048835" name="Shape 27"/>
          <p:cNvSpPr/>
          <p:nvPr>
            <p:custDataLst>
              <p:tags r:id="rId17"/>
            </p:custDataLst>
          </p:nvPr>
        </p:nvSpPr>
        <p:spPr>
          <a:xfrm>
            <a:off x="182880" y="3285744"/>
            <a:ext cx="4251960" cy="594360"/>
          </a:xfrm>
          <a:prstGeom prst="rect">
            <a:avLst/>
          </a:prstGeom>
          <a:solidFill>
            <a:srgbClr val="F5F7FA"/>
          </a:solidFill>
        </p:spPr>
      </p:sp>
      <p:sp>
        <p:nvSpPr>
          <p:cNvPr id="1048836" name="Shape 28"/>
          <p:cNvSpPr/>
          <p:nvPr>
            <p:custDataLst>
              <p:tags r:id="rId18"/>
            </p:custDataLst>
          </p:nvPr>
        </p:nvSpPr>
        <p:spPr>
          <a:xfrm>
            <a:off x="182880" y="3285744"/>
            <a:ext cx="292608" cy="59436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1048837" name="Text 29"/>
          <p:cNvSpPr/>
          <p:nvPr>
            <p:custDataLst>
              <p:tags r:id="rId19"/>
            </p:custDataLst>
          </p:nvPr>
        </p:nvSpPr>
        <p:spPr>
          <a:xfrm>
            <a:off x="182880" y="341376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400" b="1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048838" name="Text 30"/>
          <p:cNvSpPr/>
          <p:nvPr>
            <p:custDataLst>
              <p:tags r:id="rId20"/>
            </p:custDataLst>
          </p:nvPr>
        </p:nvSpPr>
        <p:spPr>
          <a:xfrm>
            <a:off x="530352" y="3340608"/>
            <a:ext cx="3840480" cy="475488"/>
          </a:xfrm>
          <a:prstGeom prst="rect">
            <a:avLst/>
          </a:prstGeom>
          <a:noFill/>
        </p:spPr>
        <p:txBody>
          <a:bodyPr wrap="square" lIns="25400" tIns="12700" rIns="25400" bIns="12700" rtlCol="0" anchor="ctr">
            <a:noAutofit/>
          </a:bodyPr>
          <a:p>
            <a:pPr marL="0" indent="0" algn="l">
              <a:buNone/>
              <a:defRPr>
                <a:solidFill/>
              </a:defRPr>
            </a:pPr>
            <a:r>
              <a:rPr sz="1080" b="0">
                <a:solidFill>
                  <a:srgbClr val="202D41"/>
                </a:solidFill>
                <a:latin typeface="Times New Roman" panose="02020603050405020304"/>
              </a:rPr>
              <a:t>Evaluate the system on real Android devices under different distances, permission states, signal conditions, and classroom-like scenarios.</a:t>
            </a:r>
            <a:endParaRPr lang="en-US" sz="1080" b="0" dirty="0">
              <a:solidFill>
                <a:srgbClr val="202D41"/>
              </a:solidFill>
              <a:latin typeface="Times New Roman" panose="02020603050405020304"/>
              <a:ea typeface="Times New Roman" panose="02020603050405020304" pitchFamily="34" charset="-122"/>
              <a:cs typeface="Times New Roman" panose="020206030504050203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chemeClr val="bg1"/>
          </a:solidFill>
        </p:spPr>
      </p:sp>
      <p:sp>
        <p:nvSpPr>
          <p:cNvPr id="104884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1048844" name="Text 2"/>
          <p:cNvSpPr/>
          <p:nvPr/>
        </p:nvSpPr>
        <p:spPr>
          <a:xfrm>
            <a:off x="137160" y="121539"/>
            <a:ext cx="77724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34" charset="0"/>
                <a:ea typeface="Arial" panose="020B0604020202020204" pitchFamily="34" charset="-122"/>
                <a:cs typeface="Times New Roman" panose="02020603050405020304" pitchFamily="34" charset="0"/>
              </a:rPr>
              <a:t>METHODOLOGY: SYSTEM ARCHITECTURE</a:t>
            </a:r>
            <a:endParaRPr lang="en-US" sz="1800" b="1" dirty="0">
              <a:solidFill>
                <a:schemeClr val="tx1"/>
              </a:solidFill>
              <a:latin typeface="Times New Roman" panose="02020603050405020304" pitchFamily="34" charset="0"/>
              <a:ea typeface="Arial" panose="020B0604020202020204" pitchFamily="34" charset="-122"/>
              <a:cs typeface="Times New Roman" panose="02020603050405020304" pitchFamily="34" charset="0"/>
            </a:endParaRPr>
          </a:p>
        </p:txBody>
      </p:sp>
      <p:sp>
        <p:nvSpPr>
          <p:cNvPr id="1048845" name="Text 3"/>
          <p:cNvSpPr/>
          <p:nvPr/>
        </p:nvSpPr>
        <p:spPr>
          <a:xfrm>
            <a:off x="8321040" y="54864"/>
            <a:ext cx="685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r">
              <a:buNone/>
            </a:pPr>
            <a:endParaRPr lang="en-US" sz="1600" dirty="0"/>
          </a:p>
        </p:txBody>
      </p:sp>
      <p:sp>
        <p:nvSpPr>
          <p:cNvPr id="1048846" name="Text 5"/>
          <p:cNvSpPr/>
          <p:nvPr/>
        </p:nvSpPr>
        <p:spPr>
          <a:xfrm>
            <a:off x="182880" y="4887468"/>
            <a:ext cx="8778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750" dirty="0">
                <a:solidFill>
                  <a:srgbClr val="A0B4C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Smart Attendance System | Dept. of Telecommunication Science | University of Ilorin</a:t>
            </a:r>
            <a:endParaRPr lang="en-US" sz="750" dirty="0"/>
          </a:p>
        </p:txBody>
      </p:sp>
      <p:sp>
        <p:nvSpPr>
          <p:cNvPr id="1048847" name="Text 9"/>
          <p:cNvSpPr/>
          <p:nvPr/>
        </p:nvSpPr>
        <p:spPr>
          <a:xfrm>
            <a:off x="182880" y="969264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CLIENT TIER — Flutter (Android)</a:t>
            </a:r>
            <a:endParaRPr lang="en-US" sz="900" dirty="0"/>
          </a:p>
        </p:txBody>
      </p:sp>
      <p:pic>
        <p:nvPicPr>
          <p:cNvPr id="2" name="Picture 1" descr="smartattendancearchitectu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645" y="682625"/>
            <a:ext cx="7397115" cy="4163060"/>
          </a:xfrm>
          <a:prstGeom prst="rect">
            <a:avLst/>
          </a:prstGeom>
        </p:spPr>
      </p:pic>
      <p:sp>
        <p:nvSpPr>
          <p:cNvPr id="1048848" name="ArchitectureCitationBox"/>
          <p:cNvSpPr/>
          <p:nvPr/>
        </p:nvSpPr>
        <p:spPr>
          <a:xfrm>
            <a:off x="7604760" y="932815"/>
            <a:ext cx="1374775" cy="3789680"/>
          </a:xfrm>
          <a:prstGeom prst="roundRect">
            <a:avLst>
              <a:gd name="adj" fmla="val 0"/>
            </a:avLst>
          </a:prstGeom>
          <a:solidFill>
            <a:srgbClr val="F5F8FF"/>
          </a:solidFill>
          <a:ln w="10160"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849" name="ArchitectureCitationTitle"/>
          <p:cNvSpPr txBox="1"/>
          <p:nvPr/>
        </p:nvSpPr>
        <p:spPr>
          <a:xfrm>
            <a:off x="7853045" y="1051560"/>
            <a:ext cx="8778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80" b="1">
                <a:solidFill>
                  <a:srgbClr val="071E48"/>
                </a:solidFill>
                <a:latin typeface="Times New Roman" panose="02020603050405020304"/>
              </a:rPr>
              <a:t>Research Basis</a:t>
            </a:r>
            <a:endParaRPr sz="880" b="1">
              <a:solidFill>
                <a:srgbClr val="071E48"/>
              </a:solidFill>
              <a:latin typeface="Times New Roman" panose="02020603050405020304"/>
            </a:endParaRPr>
          </a:p>
        </p:txBody>
      </p:sp>
      <p:sp>
        <p:nvSpPr>
          <p:cNvPr id="1048850" name="ArchitectureCitationBody"/>
          <p:cNvSpPr txBox="1"/>
          <p:nvPr/>
        </p:nvSpPr>
        <p:spPr>
          <a:xfrm>
            <a:off x="7604760" y="1500505"/>
            <a:ext cx="1393825" cy="1071245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300"/>
              </a:spcAft>
            </a:pPr>
            <a:r>
              <a:rPr sz="800">
                <a:solidFill>
                  <a:srgbClr val="202D41"/>
                </a:solidFill>
                <a:latin typeface="Times New Roman" panose="02020603050405020304"/>
              </a:rPr>
              <a:t>- BLE attendance: Puckdeevongs et al. (2020)</a:t>
            </a:r>
            <a:endParaRPr sz="800">
              <a:solidFill>
                <a:srgbClr val="202D41"/>
              </a:solidFill>
              <a:latin typeface="Times New Roman" panose="02020603050405020304"/>
            </a:endParaRPr>
          </a:p>
          <a:p>
            <a:pPr>
              <a:spcAft>
                <a:spcPts val="300"/>
              </a:spcAft>
            </a:pPr>
            <a:endParaRPr sz="800">
              <a:solidFill>
                <a:srgbClr val="202D41"/>
              </a:solidFill>
              <a:latin typeface="Times New Roman" panose="02020603050405020304"/>
            </a:endParaRPr>
          </a:p>
          <a:p>
            <a:pPr>
              <a:spcAft>
                <a:spcPts val="300"/>
              </a:spcAft>
            </a:pPr>
            <a:r>
              <a:rPr sz="800">
                <a:solidFill>
                  <a:srgbClr val="202D41"/>
                </a:solidFill>
                <a:latin typeface="Times New Roman" panose="02020603050405020304"/>
              </a:rPr>
              <a:t>- BLE security: Kim et al. (2018)</a:t>
            </a:r>
            <a:endParaRPr sz="800">
              <a:solidFill>
                <a:srgbClr val="202D41"/>
              </a:solidFill>
              <a:latin typeface="Times New Roman" panose="02020603050405020304"/>
            </a:endParaRPr>
          </a:p>
          <a:p>
            <a:pPr>
              <a:spcAft>
                <a:spcPts val="300"/>
              </a:spcAft>
            </a:pPr>
            <a:endParaRPr sz="800">
              <a:solidFill>
                <a:srgbClr val="202D41"/>
              </a:solidFill>
              <a:latin typeface="Times New Roman" panose="02020603050405020304"/>
            </a:endParaRPr>
          </a:p>
          <a:p>
            <a:pPr>
              <a:spcAft>
                <a:spcPts val="300"/>
              </a:spcAft>
            </a:pPr>
            <a:r>
              <a:rPr sz="800">
                <a:solidFill>
                  <a:srgbClr val="202D41"/>
                </a:solidFill>
                <a:latin typeface="Times New Roman" panose="02020603050405020304"/>
              </a:rPr>
              <a:t>- BLE RSSI limits: Ramirez et al. (2021)</a:t>
            </a:r>
            <a:endParaRPr sz="800">
              <a:solidFill>
                <a:srgbClr val="202D41"/>
              </a:solidFill>
              <a:latin typeface="Times New Roman" panose="02020603050405020304"/>
            </a:endParaRPr>
          </a:p>
          <a:p>
            <a:pPr>
              <a:spcAft>
                <a:spcPts val="300"/>
              </a:spcAft>
            </a:pPr>
            <a:endParaRPr sz="800">
              <a:solidFill>
                <a:srgbClr val="202D41"/>
              </a:solidFill>
              <a:latin typeface="Times New Roman" panose="02020603050405020304"/>
            </a:endParaRPr>
          </a:p>
          <a:p>
            <a:pPr>
              <a:spcAft>
                <a:spcPts val="300"/>
              </a:spcAft>
            </a:pPr>
            <a:r>
              <a:rPr sz="800">
                <a:solidFill>
                  <a:srgbClr val="202D41"/>
                </a:solidFill>
                <a:latin typeface="Times New Roman" panose="02020603050405020304"/>
              </a:rPr>
              <a:t>- Acoustic channel: Getreuer et al. (2018)</a:t>
            </a:r>
            <a:endParaRPr sz="800">
              <a:solidFill>
                <a:srgbClr val="202D41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1" name="Shape 0"/>
          <p:cNvSpPr/>
          <p:nvPr/>
        </p:nvSpPr>
        <p:spPr>
          <a:xfrm>
            <a:off x="0" y="9525"/>
            <a:ext cx="9144000" cy="594360"/>
          </a:xfrm>
          <a:prstGeom prst="rect">
            <a:avLst/>
          </a:prstGeom>
          <a:solidFill>
            <a:schemeClr val="bg1"/>
          </a:solidFill>
        </p:spPr>
        <p:txBody>
          <a:bodyPr/>
          <a:p>
            <a:endParaRPr lang="en-US" sz="3200"/>
          </a:p>
        </p:txBody>
      </p:sp>
      <p:sp>
        <p:nvSpPr>
          <p:cNvPr id="1048852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1048853" name="Text 2"/>
          <p:cNvSpPr/>
          <p:nvPr/>
        </p:nvSpPr>
        <p:spPr>
          <a:xfrm>
            <a:off x="137160" y="121285"/>
            <a:ext cx="8758555" cy="475615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sz="1600" b="1">
                <a:solidFill>
                  <a:schemeClr val="tx1"/>
                </a:solidFill>
                <a:latin typeface="Times New Roman" panose="02020603050405020304"/>
              </a:rPr>
              <a:t>METHODOLOGY: CODE-LEVEL DESIGN</a:t>
            </a:r>
            <a:endParaRPr 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048854" name="Text 3"/>
          <p:cNvSpPr/>
          <p:nvPr/>
        </p:nvSpPr>
        <p:spPr>
          <a:xfrm>
            <a:off x="8321040" y="54864"/>
            <a:ext cx="685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r">
              <a:buNone/>
            </a:pPr>
            <a:endParaRPr lang="en-US" sz="2800" dirty="0"/>
          </a:p>
        </p:txBody>
      </p:sp>
      <p:sp>
        <p:nvSpPr>
          <p:cNvPr id="1048855" name="Shape 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1048856" name="Text 5"/>
          <p:cNvSpPr/>
          <p:nvPr/>
        </p:nvSpPr>
        <p:spPr>
          <a:xfrm>
            <a:off x="182880" y="4887468"/>
            <a:ext cx="8778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800" dirty="0">
                <a:solidFill>
                  <a:srgbClr val="A0B4C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Smart Attendance System | Dept. of Telecommunication Science | University of Ilorin</a:t>
            </a:r>
            <a:endParaRPr lang="en-US" sz="800" dirty="0">
              <a:solidFill>
                <a:srgbClr val="A0B4C8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048857" name="TextBox 1048856"/>
          <p:cNvSpPr txBox="1"/>
          <p:nvPr/>
        </p:nvSpPr>
        <p:spPr>
          <a:xfrm>
            <a:off x="228600" y="713232"/>
            <a:ext cx="8732520" cy="256032"/>
          </a:xfrm>
          <a:prstGeom prst="rect">
            <a:avLst/>
          </a:prstGeom>
          <a:noFill/>
        </p:spPr>
        <p:txBody>
          <a:bodyPr wrap="square" lIns="38100" tIns="25400" rIns="38100" bIns="25400">
            <a:noAutofit/>
          </a:bodyPr>
          <a:lstStyle/>
          <a:p>
            <a:pPr algn="ctr"/>
            <a:r>
              <a:rPr sz="1200" b="1">
                <a:solidFill>
                  <a:srgbClr val="566479"/>
                </a:solidFill>
                <a:latin typeface="Times New Roman" panose="02020603050405020304"/>
              </a:rPr>
              <a:t>Key backend models and proof-validation logic used in the implementation</a:t>
            </a:r>
            <a:endParaRPr sz="1200" b="1">
              <a:solidFill>
                <a:srgbClr val="566479"/>
              </a:solidFill>
              <a:latin typeface="Times New Roman" panose="02020603050405020304"/>
            </a:endParaRPr>
          </a:p>
        </p:txBody>
      </p:sp>
      <p:sp>
        <p:nvSpPr>
          <p:cNvPr id="1048858" name="Rounded Rectangle 1048857"/>
          <p:cNvSpPr/>
          <p:nvPr>
            <p:custDataLst>
              <p:tags r:id="rId1"/>
            </p:custDataLst>
          </p:nvPr>
        </p:nvSpPr>
        <p:spPr>
          <a:xfrm>
            <a:off x="201168" y="1051560"/>
            <a:ext cx="4251960" cy="1417320"/>
          </a:xfrm>
          <a:prstGeom prst="roundRect">
            <a:avLst>
              <a:gd name="adj" fmla="val 0"/>
            </a:avLst>
          </a:prstGeom>
          <a:solidFill>
            <a:srgbClr val="E2EEFF"/>
          </a:solidFill>
          <a:ln w="12700"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48859" name="TextBox 1048858"/>
          <p:cNvSpPr txBox="1"/>
          <p:nvPr>
            <p:custDataLst>
              <p:tags r:id="rId2"/>
            </p:custDataLst>
          </p:nvPr>
        </p:nvSpPr>
        <p:spPr>
          <a:xfrm>
            <a:off x="329184" y="1170431"/>
            <a:ext cx="3995928" cy="201168"/>
          </a:xfrm>
          <a:prstGeom prst="rect">
            <a:avLst/>
          </a:prstGeom>
          <a:noFill/>
        </p:spPr>
        <p:txBody>
          <a:bodyPr wrap="square" lIns="38100" tIns="25400" rIns="38100" bIns="25400">
            <a:noAutofit/>
          </a:bodyPr>
          <a:lstStyle/>
          <a:p>
            <a:pPr algn="ctr"/>
            <a:r>
              <a:rPr sz="1400" b="1">
                <a:solidFill>
                  <a:srgbClr val="071E48"/>
                </a:solidFill>
                <a:latin typeface="Times New Roman" panose="02020603050405020304"/>
              </a:rPr>
              <a:t>Django Data Models</a:t>
            </a:r>
            <a:endParaRPr sz="1400" b="1">
              <a:solidFill>
                <a:srgbClr val="071E48"/>
              </a:solidFill>
              <a:latin typeface="Times New Roman" panose="02020603050405020304"/>
            </a:endParaRPr>
          </a:p>
        </p:txBody>
      </p:sp>
      <p:sp>
        <p:nvSpPr>
          <p:cNvPr id="1048860" name="TextBox 1048859"/>
          <p:cNvSpPr txBox="1"/>
          <p:nvPr>
            <p:custDataLst>
              <p:tags r:id="rId3"/>
            </p:custDataLst>
          </p:nvPr>
        </p:nvSpPr>
        <p:spPr>
          <a:xfrm>
            <a:off x="365760" y="1472184"/>
            <a:ext cx="3922776" cy="886968"/>
          </a:xfrm>
          <a:prstGeom prst="rect">
            <a:avLst/>
          </a:prstGeom>
          <a:noFill/>
        </p:spPr>
        <p:txBody>
          <a:bodyPr wrap="square" lIns="38100" tIns="12700" rIns="38100" bIns="12700">
            <a:noAutofit/>
          </a:bodyPr>
          <a:lstStyle/>
          <a:p>
            <a:pPr>
              <a:spcAft>
                <a:spcPts val="150"/>
              </a:spcAft>
            </a:pPr>
            <a:r>
              <a:rPr sz="1000">
                <a:solidFill>
                  <a:srgbClr val="202D41"/>
                </a:solidFill>
                <a:latin typeface="Times New Roman" panose="02020603050405020304"/>
              </a:rPr>
              <a:t>- Session: course, lecturer, room, start/end time, active state.</a:t>
            </a:r>
            <a:endParaRPr sz="1000">
              <a:solidFill>
                <a:srgbClr val="202D41"/>
              </a:solidFill>
              <a:latin typeface="Times New Roman" panose="02020603050405020304"/>
            </a:endParaRPr>
          </a:p>
          <a:p>
            <a:pPr>
              <a:spcAft>
                <a:spcPts val="150"/>
              </a:spcAft>
            </a:pPr>
            <a:r>
              <a:rPr sz="1000">
                <a:solidFill>
                  <a:srgbClr val="202D41"/>
                </a:solidFill>
                <a:latin typeface="Times New Roman" panose="02020603050405020304"/>
              </a:rPr>
              <a:t>- UserProfile: student/lecturer role, matric number, registered_device_id.</a:t>
            </a:r>
            <a:endParaRPr sz="1000">
              <a:solidFill>
                <a:srgbClr val="202D41"/>
              </a:solidFill>
              <a:latin typeface="Times New Roman" panose="02020603050405020304"/>
            </a:endParaRPr>
          </a:p>
          <a:p>
            <a:pPr>
              <a:spcAft>
                <a:spcPts val="150"/>
              </a:spcAft>
            </a:pPr>
            <a:r>
              <a:rPr sz="1000">
                <a:solidFill>
                  <a:srgbClr val="202D41"/>
                </a:solidFill>
                <a:latin typeface="Times New Roman" panose="02020603050405020304"/>
              </a:rPr>
              <a:t>- AttendanceProof: submitted proof, device ID, RSSI, timestamp and trust status.</a:t>
            </a:r>
            <a:endParaRPr sz="1000">
              <a:solidFill>
                <a:srgbClr val="202D41"/>
              </a:solidFill>
              <a:latin typeface="Times New Roman" panose="02020603050405020304"/>
            </a:endParaRPr>
          </a:p>
          <a:p>
            <a:pPr>
              <a:spcAft>
                <a:spcPts val="150"/>
              </a:spcAft>
            </a:pPr>
            <a:r>
              <a:rPr sz="1000">
                <a:solidFill>
                  <a:srgbClr val="202D41"/>
                </a:solidFill>
                <a:latin typeface="Times New Roman" panose="02020603050405020304"/>
              </a:rPr>
              <a:t>- AttendanceReplayGuard: stores used proof combinations to prevent reuse.</a:t>
            </a:r>
            <a:endParaRPr sz="1000">
              <a:solidFill>
                <a:srgbClr val="202D41"/>
              </a:solidFill>
              <a:latin typeface="Times New Roman" panose="02020603050405020304"/>
            </a:endParaRPr>
          </a:p>
        </p:txBody>
      </p:sp>
      <p:sp>
        <p:nvSpPr>
          <p:cNvPr id="1048861" name="Rounded Rectangle 1048860"/>
          <p:cNvSpPr/>
          <p:nvPr>
            <p:custDataLst>
              <p:tags r:id="rId4"/>
            </p:custDataLst>
          </p:nvPr>
        </p:nvSpPr>
        <p:spPr>
          <a:xfrm>
            <a:off x="4663440" y="1051560"/>
            <a:ext cx="4251960" cy="1417320"/>
          </a:xfrm>
          <a:prstGeom prst="roundRect">
            <a:avLst>
              <a:gd name="adj" fmla="val 268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48862" name="TextBox 1048861"/>
          <p:cNvSpPr txBox="1"/>
          <p:nvPr>
            <p:custDataLst>
              <p:tags r:id="rId5"/>
            </p:custDataLst>
          </p:nvPr>
        </p:nvSpPr>
        <p:spPr>
          <a:xfrm>
            <a:off x="4791455" y="1170431"/>
            <a:ext cx="3995928" cy="201168"/>
          </a:xfrm>
          <a:prstGeom prst="rect">
            <a:avLst/>
          </a:prstGeom>
          <a:noFill/>
        </p:spPr>
        <p:txBody>
          <a:bodyPr wrap="square" lIns="38100" tIns="25400" rIns="38100" bIns="25400">
            <a:noAutofit/>
          </a:bodyPr>
          <a:lstStyle/>
          <a:p>
            <a:pPr algn="ctr"/>
            <a:r>
              <a:rPr sz="1400" b="1">
                <a:solidFill>
                  <a:srgbClr val="071E48"/>
                </a:solidFill>
                <a:latin typeface="Times New Roman" panose="02020603050405020304"/>
              </a:rPr>
              <a:t>Proof Construction Fields</a:t>
            </a:r>
            <a:endParaRPr sz="1400" b="1">
              <a:solidFill>
                <a:srgbClr val="071E48"/>
              </a:solidFill>
              <a:latin typeface="Times New Roman" panose="02020603050405020304"/>
            </a:endParaRPr>
          </a:p>
        </p:txBody>
      </p:sp>
      <p:sp>
        <p:nvSpPr>
          <p:cNvPr id="1048863" name="TextBox 1048862"/>
          <p:cNvSpPr txBox="1"/>
          <p:nvPr>
            <p:custDataLst>
              <p:tags r:id="rId6"/>
            </p:custDataLst>
          </p:nvPr>
        </p:nvSpPr>
        <p:spPr>
          <a:xfrm>
            <a:off x="4828031" y="1472184"/>
            <a:ext cx="3922776" cy="886968"/>
          </a:xfrm>
          <a:prstGeom prst="rect">
            <a:avLst/>
          </a:prstGeom>
          <a:noFill/>
        </p:spPr>
        <p:txBody>
          <a:bodyPr wrap="square" lIns="38100" tIns="12700" rIns="38100" bIns="12700">
            <a:normAutofit/>
          </a:bodyPr>
          <a:lstStyle/>
          <a:p>
            <a:pPr>
              <a:spcAft>
                <a:spcPts val="150"/>
              </a:spcAft>
            </a:pPr>
            <a:r>
              <a:rPr sz="1000">
                <a:solidFill>
                  <a:srgbClr val="202D41"/>
                </a:solidFill>
                <a:latin typeface="Times New Roman" panose="02020603050405020304"/>
              </a:rPr>
              <a:t>- Student identity comes from authenticated login, not manual input.</a:t>
            </a:r>
            <a:endParaRPr sz="1000">
              <a:solidFill>
                <a:srgbClr val="202D41"/>
              </a:solidFill>
              <a:latin typeface="Times New Roman" panose="02020603050405020304"/>
            </a:endParaRPr>
          </a:p>
          <a:p>
            <a:pPr>
              <a:spcAft>
                <a:spcPts val="150"/>
              </a:spcAft>
            </a:pPr>
            <a:r>
              <a:rPr sz="1000">
                <a:solidFill>
                  <a:srgbClr val="202D41"/>
                </a:solidFill>
                <a:latin typeface="Times New Roman" panose="02020603050405020304"/>
              </a:rPr>
              <a:t>- Device ID is submitted from the registered student phone.</a:t>
            </a:r>
            <a:endParaRPr sz="1000">
              <a:solidFill>
                <a:srgbClr val="202D41"/>
              </a:solidFill>
              <a:latin typeface="Times New Roman" panose="02020603050405020304"/>
            </a:endParaRPr>
          </a:p>
          <a:p>
            <a:pPr>
              <a:spcAft>
                <a:spcPts val="150"/>
              </a:spcAft>
            </a:pPr>
            <a:r>
              <a:rPr sz="1000">
                <a:solidFill>
                  <a:srgbClr val="202D41"/>
                </a:solidFill>
                <a:latin typeface="Times New Roman" panose="02020603050405020304"/>
              </a:rPr>
              <a:t>- BLE nonce and/or acoustic token are captured from live classroom broadcast.</a:t>
            </a:r>
            <a:endParaRPr sz="1000">
              <a:solidFill>
                <a:srgbClr val="202D41"/>
              </a:solidFill>
              <a:latin typeface="Times New Roman" panose="02020603050405020304"/>
            </a:endParaRPr>
          </a:p>
          <a:p>
            <a:pPr>
              <a:spcAft>
                <a:spcPts val="150"/>
              </a:spcAft>
            </a:pPr>
            <a:r>
              <a:rPr sz="1000">
                <a:solidFill>
                  <a:srgbClr val="202D41"/>
                </a:solidFill>
                <a:latin typeface="Times New Roman" panose="02020603050405020304"/>
              </a:rPr>
              <a:t>- observed_at records when the student device captured the signal.</a:t>
            </a:r>
            <a:endParaRPr sz="1000">
              <a:solidFill>
                <a:srgbClr val="202D41"/>
              </a:solidFill>
              <a:latin typeface="Times New Roman" panose="02020603050405020304"/>
            </a:endParaRPr>
          </a:p>
        </p:txBody>
      </p:sp>
      <p:sp>
        <p:nvSpPr>
          <p:cNvPr id="1048864" name="Rounded Rectangle 1048863"/>
          <p:cNvSpPr/>
          <p:nvPr>
            <p:custDataLst>
              <p:tags r:id="rId7"/>
            </p:custDataLst>
          </p:nvPr>
        </p:nvSpPr>
        <p:spPr>
          <a:xfrm>
            <a:off x="201168" y="2724912"/>
            <a:ext cx="4251960" cy="1417320"/>
          </a:xfrm>
          <a:prstGeom prst="roundRect">
            <a:avLst>
              <a:gd name="adj" fmla="val 2159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48865" name="TextBox 1048864"/>
          <p:cNvSpPr txBox="1"/>
          <p:nvPr>
            <p:custDataLst>
              <p:tags r:id="rId8"/>
            </p:custDataLst>
          </p:nvPr>
        </p:nvSpPr>
        <p:spPr>
          <a:xfrm>
            <a:off x="329184" y="2843784"/>
            <a:ext cx="3995928" cy="201168"/>
          </a:xfrm>
          <a:prstGeom prst="rect">
            <a:avLst/>
          </a:prstGeom>
          <a:noFill/>
        </p:spPr>
        <p:txBody>
          <a:bodyPr wrap="square" lIns="38100" tIns="25400" rIns="38100" bIns="25400">
            <a:noAutofit/>
          </a:bodyPr>
          <a:lstStyle/>
          <a:p>
            <a:pPr algn="ctr"/>
            <a:r>
              <a:rPr sz="1400" b="1">
                <a:solidFill>
                  <a:srgbClr val="071E48"/>
                </a:solidFill>
                <a:latin typeface="Times New Roman" panose="02020603050405020304"/>
              </a:rPr>
              <a:t>Backend Validation Logic</a:t>
            </a:r>
            <a:endParaRPr sz="1400" b="1">
              <a:solidFill>
                <a:srgbClr val="071E48"/>
              </a:solidFill>
              <a:latin typeface="Times New Roman" panose="02020603050405020304"/>
            </a:endParaRPr>
          </a:p>
        </p:txBody>
      </p:sp>
      <p:sp>
        <p:nvSpPr>
          <p:cNvPr id="1048866" name="TextBox 1048865"/>
          <p:cNvSpPr txBox="1"/>
          <p:nvPr>
            <p:custDataLst>
              <p:tags r:id="rId9"/>
            </p:custDataLst>
          </p:nvPr>
        </p:nvSpPr>
        <p:spPr>
          <a:xfrm>
            <a:off x="365760" y="3145536"/>
            <a:ext cx="3922776" cy="886968"/>
          </a:xfrm>
          <a:prstGeom prst="rect">
            <a:avLst/>
          </a:prstGeom>
          <a:noFill/>
        </p:spPr>
        <p:txBody>
          <a:bodyPr wrap="square" lIns="38100" tIns="12700" rIns="38100" bIns="12700">
            <a:normAutofit/>
          </a:bodyPr>
          <a:lstStyle/>
          <a:p>
            <a:pPr>
              <a:spcAft>
                <a:spcPts val="150"/>
              </a:spcAft>
            </a:pPr>
            <a:r>
              <a:rPr sz="1000">
                <a:solidFill>
                  <a:srgbClr val="202D41"/>
                </a:solidFill>
                <a:latin typeface="Times New Roman" panose="02020603050405020304"/>
              </a:rPr>
              <a:t>- Serializer checks freshness window and active session ownership.</a:t>
            </a:r>
            <a:endParaRPr sz="1000">
              <a:solidFill>
                <a:srgbClr val="202D41"/>
              </a:solidFill>
              <a:latin typeface="Times New Roman" panose="02020603050405020304"/>
            </a:endParaRPr>
          </a:p>
          <a:p>
            <a:pPr>
              <a:spcAft>
                <a:spcPts val="150"/>
              </a:spcAft>
            </a:pPr>
            <a:r>
              <a:rPr sz="1000">
                <a:solidFill>
                  <a:srgbClr val="202D41"/>
                </a:solidFill>
                <a:latin typeface="Times New Roman" panose="02020603050405020304"/>
              </a:rPr>
              <a:t>- Duplicate check enforces one accepted proof per student per session.</a:t>
            </a:r>
            <a:endParaRPr sz="1000">
              <a:solidFill>
                <a:srgbClr val="202D41"/>
              </a:solidFill>
              <a:latin typeface="Times New Roman" panose="02020603050405020304"/>
            </a:endParaRPr>
          </a:p>
          <a:p>
            <a:pPr>
              <a:spcAft>
                <a:spcPts val="150"/>
              </a:spcAft>
            </a:pPr>
            <a:r>
              <a:rPr sz="1000">
                <a:solidFill>
                  <a:srgbClr val="202D41"/>
                </a:solidFill>
                <a:latin typeface="Times New Roman" panose="02020603050405020304"/>
              </a:rPr>
              <a:t>- Replay guard rejects reused challenge/nonce combinations.</a:t>
            </a:r>
            <a:endParaRPr sz="1000">
              <a:solidFill>
                <a:srgbClr val="202D41"/>
              </a:solidFill>
              <a:latin typeface="Times New Roman" panose="02020603050405020304"/>
            </a:endParaRPr>
          </a:p>
          <a:p>
            <a:pPr>
              <a:spcAft>
                <a:spcPts val="150"/>
              </a:spcAft>
            </a:pPr>
            <a:r>
              <a:rPr sz="1000">
                <a:solidFill>
                  <a:srgbClr val="202D41"/>
                </a:solidFill>
                <a:latin typeface="Times New Roman" panose="02020603050405020304"/>
              </a:rPr>
              <a:t>- Device-trust check blocks or flags mismatched registered devices.</a:t>
            </a:r>
            <a:endParaRPr sz="1000">
              <a:solidFill>
                <a:srgbClr val="202D41"/>
              </a:solidFill>
              <a:latin typeface="Times New Roman" panose="02020603050405020304"/>
            </a:endParaRPr>
          </a:p>
        </p:txBody>
      </p:sp>
      <p:sp>
        <p:nvSpPr>
          <p:cNvPr id="1048867" name="Rounded Rectangle 1048866"/>
          <p:cNvSpPr/>
          <p:nvPr>
            <p:custDataLst>
              <p:tags r:id="rId10"/>
            </p:custDataLst>
          </p:nvPr>
        </p:nvSpPr>
        <p:spPr>
          <a:xfrm>
            <a:off x="4663440" y="2724912"/>
            <a:ext cx="4251960" cy="141732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48868" name="TextBox 1048867"/>
          <p:cNvSpPr txBox="1"/>
          <p:nvPr>
            <p:custDataLst>
              <p:tags r:id="rId11"/>
            </p:custDataLst>
          </p:nvPr>
        </p:nvSpPr>
        <p:spPr>
          <a:xfrm>
            <a:off x="4791455" y="2843784"/>
            <a:ext cx="3995928" cy="201168"/>
          </a:xfrm>
          <a:prstGeom prst="rect">
            <a:avLst/>
          </a:prstGeom>
          <a:noFill/>
        </p:spPr>
        <p:txBody>
          <a:bodyPr wrap="square" lIns="38100" tIns="25400" rIns="38100" bIns="25400">
            <a:noAutofit/>
          </a:bodyPr>
          <a:lstStyle/>
          <a:p>
            <a:pPr algn="ctr"/>
            <a:r>
              <a:rPr sz="1400" b="1">
                <a:solidFill>
                  <a:srgbClr val="071E48"/>
                </a:solidFill>
                <a:latin typeface="Times New Roman" panose="02020603050405020304"/>
              </a:rPr>
              <a:t>Report and Output Layer</a:t>
            </a:r>
            <a:endParaRPr sz="1400" b="1">
              <a:solidFill>
                <a:srgbClr val="071E48"/>
              </a:solidFill>
              <a:latin typeface="Times New Roman" panose="02020603050405020304"/>
            </a:endParaRPr>
          </a:p>
        </p:txBody>
      </p:sp>
      <p:sp>
        <p:nvSpPr>
          <p:cNvPr id="1048869" name="TextBox 1048868"/>
          <p:cNvSpPr txBox="1"/>
          <p:nvPr>
            <p:custDataLst>
              <p:tags r:id="rId12"/>
            </p:custDataLst>
          </p:nvPr>
        </p:nvSpPr>
        <p:spPr>
          <a:xfrm>
            <a:off x="4828031" y="3145536"/>
            <a:ext cx="3922776" cy="886968"/>
          </a:xfrm>
          <a:prstGeom prst="rect">
            <a:avLst/>
          </a:prstGeom>
          <a:noFill/>
        </p:spPr>
        <p:txBody>
          <a:bodyPr wrap="square" lIns="38100" tIns="12700" rIns="38100" bIns="12700">
            <a:normAutofit/>
          </a:bodyPr>
          <a:lstStyle/>
          <a:p>
            <a:pPr>
              <a:spcAft>
                <a:spcPts val="150"/>
              </a:spcAft>
            </a:pPr>
            <a:r>
              <a:rPr sz="1000">
                <a:solidFill>
                  <a:srgbClr val="202D41"/>
                </a:solidFill>
                <a:latin typeface="Times New Roman" panose="02020603050405020304"/>
              </a:rPr>
              <a:t>- Lecturer validation report is filtered by the selected/current session.</a:t>
            </a:r>
            <a:endParaRPr sz="1000">
              <a:solidFill>
                <a:srgbClr val="202D41"/>
              </a:solidFill>
              <a:latin typeface="Times New Roman" panose="02020603050405020304"/>
            </a:endParaRPr>
          </a:p>
          <a:p>
            <a:pPr>
              <a:spcAft>
                <a:spcPts val="150"/>
              </a:spcAft>
            </a:pPr>
            <a:r>
              <a:rPr sz="1000">
                <a:solidFill>
                  <a:srgbClr val="202D41"/>
                </a:solidFill>
                <a:latin typeface="Times New Roman" panose="02020603050405020304"/>
              </a:rPr>
              <a:t>- Attendance record includes student name, matric number, device ID and scan mode.</a:t>
            </a:r>
            <a:endParaRPr sz="1000">
              <a:solidFill>
                <a:srgbClr val="202D41"/>
              </a:solidFill>
              <a:latin typeface="Times New Roman" panose="02020603050405020304"/>
            </a:endParaRPr>
          </a:p>
          <a:p>
            <a:pPr>
              <a:spcAft>
                <a:spcPts val="150"/>
              </a:spcAft>
            </a:pPr>
            <a:r>
              <a:rPr sz="1000">
                <a:solidFill>
                  <a:srgbClr val="202D41"/>
                </a:solidFill>
                <a:latin typeface="Times New Roman" panose="02020603050405020304"/>
              </a:rPr>
              <a:t>- CSV export supports administrative use after attendance collection.</a:t>
            </a:r>
            <a:endParaRPr sz="1000">
              <a:solidFill>
                <a:srgbClr val="202D41"/>
              </a:solidFill>
              <a:latin typeface="Times New Roman" panose="02020603050405020304"/>
            </a:endParaRPr>
          </a:p>
          <a:p>
            <a:pPr>
              <a:spcAft>
                <a:spcPts val="150"/>
              </a:spcAft>
            </a:pPr>
            <a:r>
              <a:rPr sz="1000">
                <a:solidFill>
                  <a:srgbClr val="202D41"/>
                </a:solidFill>
                <a:latin typeface="Times New Roman" panose="02020603050405020304"/>
              </a:rPr>
              <a:t>- Clear error messages reduce confusing technical failures during tests.</a:t>
            </a:r>
            <a:endParaRPr sz="1000">
              <a:solidFill>
                <a:srgbClr val="202D41"/>
              </a:solidFill>
              <a:latin typeface="Times New Roman" panose="02020603050405020304"/>
            </a:endParaRPr>
          </a:p>
        </p:txBody>
      </p:sp>
      <p:sp>
        <p:nvSpPr>
          <p:cNvPr id="1048870" name="Rounded Rectangle 1048869"/>
          <p:cNvSpPr/>
          <p:nvPr/>
        </p:nvSpPr>
        <p:spPr>
          <a:xfrm>
            <a:off x="502920" y="4407408"/>
            <a:ext cx="8183879" cy="3657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bg2"/>
              </a:solidFill>
            </a:endParaRPr>
          </a:p>
        </p:txBody>
      </p:sp>
      <p:sp>
        <p:nvSpPr>
          <p:cNvPr id="1048871" name="TextBox 1048870"/>
          <p:cNvSpPr txBox="1"/>
          <p:nvPr/>
        </p:nvSpPr>
        <p:spPr>
          <a:xfrm>
            <a:off x="731520" y="4498848"/>
            <a:ext cx="7726679" cy="146304"/>
          </a:xfrm>
          <a:prstGeom prst="rect">
            <a:avLst/>
          </a:prstGeom>
          <a:noFill/>
        </p:spPr>
        <p:txBody>
          <a:bodyPr wrap="square" lIns="38100" tIns="25400" rIns="38100" bIns="25400">
            <a:noAutofit/>
          </a:bodyPr>
          <a:lstStyle/>
          <a:p>
            <a:pPr algn="ctr"/>
            <a:r>
              <a:rPr sz="1000" b="1">
                <a:solidFill>
                  <a:srgbClr val="071E48"/>
                </a:solidFill>
                <a:latin typeface="Times New Roman" panose="02020603050405020304"/>
              </a:rPr>
              <a:t>Implementation principle: the mobile app captures evidence, but the backend models and serializers enforce the attendance rules.</a:t>
            </a:r>
            <a:endParaRPr sz="1000" b="1">
              <a:solidFill>
                <a:srgbClr val="071E48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09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7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" y="118872"/>
            <a:ext cx="8046720" cy="32004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b="1">
                <a:solidFill>
                  <a:schemeClr val="tx1"/>
                </a:solidFill>
                <a:latin typeface="Times New Roman" panose="02020603050405020304"/>
              </a:rPr>
              <a:t>IMPLEMENTATION</a:t>
            </a:r>
            <a:r>
              <a:rPr lang="en-US" b="1">
                <a:solidFill>
                  <a:schemeClr val="tx1"/>
                </a:solidFill>
                <a:latin typeface="Times New Roman" panose="02020603050405020304"/>
              </a:rPr>
              <a:t>: </a:t>
            </a:r>
            <a:r>
              <a:rPr b="1">
                <a:solidFill>
                  <a:schemeClr val="tx1"/>
                </a:solidFill>
                <a:latin typeface="Times New Roman" panose="02020603050405020304"/>
              </a:rPr>
              <a:t>CODE SCREENSHOTS</a:t>
            </a:r>
            <a:endParaRPr b="1">
              <a:solidFill>
                <a:schemeClr val="tx1"/>
              </a:solidFill>
              <a:latin typeface="Times New Roman" panose="020206030504050203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118872"/>
            <a:ext cx="594360" cy="25603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1200" b="1">
                <a:solidFill>
                  <a:schemeClr val="tx1"/>
                </a:solidFill>
                <a:latin typeface="Times New Roman" panose="02020603050405020304"/>
              </a:rPr>
              <a:t>8</a:t>
            </a:r>
            <a:endParaRPr sz="1200" b="1">
              <a:solidFill>
                <a:schemeClr val="tx1"/>
              </a:solidFill>
              <a:latin typeface="Times New Roman" panose="020206030504050203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2880" y="4901184"/>
            <a:ext cx="877824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Times New Roman" panose="02020603050405020304"/>
              </a:rPr>
              <a:t>Smart Attendance System | Dept. of Telecommunication Science | University of Ilorin</a:t>
            </a:r>
            <a:endParaRPr sz="750" b="0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4" name="TextBox 13"/>
          <p:cNvSpPr txBox="1"/>
          <p:nvPr>
            <p:custDataLst>
              <p:tags r:id="rId1"/>
            </p:custDataLst>
          </p:nvPr>
        </p:nvSpPr>
        <p:spPr>
          <a:xfrm>
            <a:off x="2903307" y="1521736"/>
            <a:ext cx="1249120" cy="4596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1070" b="1">
                <a:solidFill>
                  <a:srgbClr val="071E48"/>
                </a:solidFill>
                <a:latin typeface="Times New Roman" panose="02020603050405020304"/>
              </a:rPr>
              <a:t>1. Data </a:t>
            </a:r>
            <a:endParaRPr sz="1070" b="1">
              <a:solidFill>
                <a:srgbClr val="071E48"/>
              </a:solidFill>
              <a:latin typeface="Times New Roman" panose="02020603050405020304"/>
            </a:endParaRPr>
          </a:p>
          <a:p>
            <a:pPr algn="ctr"/>
            <a:r>
              <a:rPr sz="1070" b="1">
                <a:solidFill>
                  <a:srgbClr val="071E48"/>
                </a:solidFill>
                <a:latin typeface="Times New Roman" panose="02020603050405020304"/>
              </a:rPr>
              <a:t>Structure</a:t>
            </a:r>
            <a:endParaRPr sz="1070" b="1">
              <a:solidFill>
                <a:srgbClr val="071E48"/>
              </a:solidFill>
              <a:latin typeface="Times New Roman" panose="02020603050405020304"/>
            </a:endParaRPr>
          </a:p>
        </p:txBody>
      </p:sp>
      <p:sp>
        <p:nvSpPr>
          <p:cNvPr id="15" name="TextBox 14"/>
          <p:cNvSpPr txBox="1"/>
          <p:nvPr>
            <p:custDataLst>
              <p:tags r:id="rId2"/>
            </p:custDataLst>
          </p:nvPr>
        </p:nvSpPr>
        <p:spPr>
          <a:xfrm>
            <a:off x="266762" y="3096810"/>
            <a:ext cx="4172003" cy="223319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690" b="0">
                <a:solidFill>
                  <a:srgbClr val="202D41"/>
                </a:solidFill>
                <a:latin typeface="Times New Roman" panose="02020603050405020304"/>
              </a:rPr>
              <a:t>Defines sessions, student profiles, attendance proofs, registered devices and replay-guard records.</a:t>
            </a:r>
            <a:endParaRPr sz="690" b="0">
              <a:solidFill>
                <a:srgbClr val="202D41"/>
              </a:solidFill>
              <a:latin typeface="Times New Roman" panose="02020603050405020304"/>
            </a:endParaRPr>
          </a:p>
        </p:txBody>
      </p:sp>
      <p:sp>
        <p:nvSpPr>
          <p:cNvPr id="17" name="TextBox 16"/>
          <p:cNvSpPr txBox="1"/>
          <p:nvPr>
            <p:custDataLst>
              <p:tags r:id="rId3"/>
            </p:custDataLst>
          </p:nvPr>
        </p:nvSpPr>
        <p:spPr>
          <a:xfrm>
            <a:off x="4362450" y="1077595"/>
            <a:ext cx="1029970" cy="442595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1070" b="1">
                <a:solidFill>
                  <a:srgbClr val="071E48"/>
                </a:solidFill>
                <a:latin typeface="Times New Roman" panose="02020603050405020304"/>
              </a:rPr>
              <a:t>2. Proof </a:t>
            </a:r>
            <a:endParaRPr sz="1070" b="1">
              <a:solidFill>
                <a:srgbClr val="071E48"/>
              </a:solidFill>
              <a:latin typeface="Times New Roman" panose="02020603050405020304"/>
            </a:endParaRPr>
          </a:p>
          <a:p>
            <a:pPr algn="ctr"/>
            <a:r>
              <a:rPr sz="1070" b="1">
                <a:solidFill>
                  <a:srgbClr val="071E48"/>
                </a:solidFill>
                <a:latin typeface="Times New Roman" panose="02020603050405020304"/>
              </a:rPr>
              <a:t>Validation</a:t>
            </a:r>
            <a:endParaRPr sz="1070" b="1">
              <a:solidFill>
                <a:srgbClr val="071E48"/>
              </a:solidFill>
              <a:latin typeface="Times New Roman" panose="02020603050405020304"/>
            </a:endParaRPr>
          </a:p>
        </p:txBody>
      </p:sp>
      <p:sp>
        <p:nvSpPr>
          <p:cNvPr id="18" name="TextBox 17"/>
          <p:cNvSpPr txBox="1"/>
          <p:nvPr>
            <p:custDataLst>
              <p:tags r:id="rId4"/>
            </p:custDataLst>
          </p:nvPr>
        </p:nvSpPr>
        <p:spPr>
          <a:xfrm>
            <a:off x="5037455" y="2517775"/>
            <a:ext cx="3931285" cy="22352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690" b="0">
                <a:solidFill>
                  <a:srgbClr val="202D41"/>
                </a:solidFill>
                <a:latin typeface="Times New Roman" panose="02020603050405020304"/>
              </a:rPr>
              <a:t>Checks active session, freshness, proof format, duplicate submission and replay attempts before storage.</a:t>
            </a:r>
            <a:endParaRPr sz="690" b="0">
              <a:solidFill>
                <a:srgbClr val="202D41"/>
              </a:solidFill>
              <a:latin typeface="Times New Roman" panose="02020603050405020304"/>
            </a:endParaRPr>
          </a:p>
        </p:txBody>
      </p:sp>
      <p:sp>
        <p:nvSpPr>
          <p:cNvPr id="20" name="TextBox 19"/>
          <p:cNvSpPr txBox="1"/>
          <p:nvPr>
            <p:custDataLst>
              <p:tags r:id="rId5"/>
            </p:custDataLst>
          </p:nvPr>
        </p:nvSpPr>
        <p:spPr>
          <a:xfrm>
            <a:off x="4829810" y="3022600"/>
            <a:ext cx="1014730" cy="417195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1070" b="1">
                <a:solidFill>
                  <a:srgbClr val="071E48"/>
                </a:solidFill>
                <a:latin typeface="Times New Roman" panose="02020603050405020304"/>
              </a:rPr>
              <a:t>3. Anti-Fraud </a:t>
            </a:r>
            <a:endParaRPr sz="1070" b="1">
              <a:solidFill>
                <a:srgbClr val="071E48"/>
              </a:solidFill>
              <a:latin typeface="Times New Roman" panose="02020603050405020304"/>
            </a:endParaRPr>
          </a:p>
          <a:p>
            <a:pPr algn="ctr"/>
            <a:r>
              <a:rPr sz="1070" b="1">
                <a:solidFill>
                  <a:srgbClr val="071E48"/>
                </a:solidFill>
                <a:latin typeface="Times New Roman" panose="02020603050405020304"/>
              </a:rPr>
              <a:t>Control</a:t>
            </a:r>
            <a:endParaRPr sz="1070" b="1">
              <a:solidFill>
                <a:srgbClr val="071E48"/>
              </a:solidFill>
              <a:latin typeface="Times New Roman" panose="02020603050405020304"/>
            </a:endParaRPr>
          </a:p>
        </p:txBody>
      </p:sp>
      <p:sp>
        <p:nvSpPr>
          <p:cNvPr id="21" name="TextBox 20"/>
          <p:cNvSpPr txBox="1"/>
          <p:nvPr>
            <p:custDataLst>
              <p:tags r:id="rId6"/>
            </p:custDataLst>
          </p:nvPr>
        </p:nvSpPr>
        <p:spPr>
          <a:xfrm>
            <a:off x="137222" y="4694883"/>
            <a:ext cx="4172003" cy="223319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690" b="0">
                <a:solidFill>
                  <a:srgbClr val="202D41"/>
                </a:solidFill>
                <a:latin typeface="Times New Roman" panose="02020603050405020304"/>
              </a:rPr>
              <a:t>Binds a student to a registered device and rejects mismatched device submissions.</a:t>
            </a:r>
            <a:endParaRPr sz="690" b="0">
              <a:solidFill>
                <a:srgbClr val="202D41"/>
              </a:solidFill>
              <a:latin typeface="Times New Roman" panose="02020603050405020304"/>
            </a:endParaRPr>
          </a:p>
        </p:txBody>
      </p:sp>
      <p:sp>
        <p:nvSpPr>
          <p:cNvPr id="23" name="TextBox 22"/>
          <p:cNvSpPr txBox="1"/>
          <p:nvPr>
            <p:custDataLst>
              <p:tags r:id="rId7"/>
            </p:custDataLst>
          </p:nvPr>
        </p:nvSpPr>
        <p:spPr>
          <a:xfrm>
            <a:off x="266912" y="3247029"/>
            <a:ext cx="4172003" cy="182715"/>
          </a:xfrm>
          <a:prstGeom prst="rect">
            <a:avLst/>
          </a:prstGeom>
          <a:noFill/>
        </p:spPr>
        <p:txBody>
          <a:bodyPr wrap="square" lIns="25400" tIns="12700" rIns="25400" bIns="12700">
            <a:normAutofit fontScale="90000"/>
          </a:bodyPr>
          <a:lstStyle/>
          <a:p>
            <a:pPr algn="ctr"/>
            <a:r>
              <a:rPr sz="1070" b="1">
                <a:solidFill>
                  <a:srgbClr val="071E48"/>
                </a:solidFill>
                <a:latin typeface="Times New Roman" panose="02020603050405020304"/>
              </a:rPr>
              <a:t>4. Mobile Signal Capture</a:t>
            </a:r>
            <a:endParaRPr sz="1070" b="1">
              <a:solidFill>
                <a:srgbClr val="071E48"/>
              </a:solidFill>
              <a:latin typeface="Times New Roman" panose="02020603050405020304"/>
            </a:endParaRPr>
          </a:p>
        </p:txBody>
      </p:sp>
      <p:sp>
        <p:nvSpPr>
          <p:cNvPr id="24" name="TextBox 23"/>
          <p:cNvSpPr txBox="1"/>
          <p:nvPr>
            <p:custDataLst>
              <p:tags r:id="rId8"/>
            </p:custDataLst>
          </p:nvPr>
        </p:nvSpPr>
        <p:spPr>
          <a:xfrm>
            <a:off x="4768850" y="3476625"/>
            <a:ext cx="1357630" cy="483870"/>
          </a:xfrm>
          <a:prstGeom prst="rect">
            <a:avLst/>
          </a:prstGeom>
          <a:noFill/>
        </p:spPr>
        <p:txBody>
          <a:bodyPr wrap="square" lIns="25400" tIns="12700" rIns="25400" bIns="12700">
            <a:normAutofit lnSpcReduction="10000"/>
          </a:bodyPr>
          <a:lstStyle/>
          <a:p>
            <a:pPr algn="ctr"/>
            <a:r>
              <a:rPr sz="690" b="0">
                <a:solidFill>
                  <a:srgbClr val="202D41"/>
                </a:solidFill>
                <a:latin typeface="Times New Roman" panose="02020603050405020304"/>
              </a:rPr>
              <a:t>Flutter service bridges the app to native</a:t>
            </a:r>
            <a:endParaRPr sz="690" b="0">
              <a:solidFill>
                <a:srgbClr val="202D41"/>
              </a:solidFill>
              <a:latin typeface="Times New Roman" panose="02020603050405020304"/>
            </a:endParaRPr>
          </a:p>
          <a:p>
            <a:pPr algn="ctr"/>
            <a:r>
              <a:rPr sz="690" b="0">
                <a:solidFill>
                  <a:srgbClr val="202D41"/>
                </a:solidFill>
                <a:latin typeface="Times New Roman" panose="02020603050405020304"/>
              </a:rPr>
              <a:t>BLE/acoustic broadcast, scan and </a:t>
            </a:r>
            <a:endParaRPr sz="690" b="0">
              <a:solidFill>
                <a:srgbClr val="202D41"/>
              </a:solidFill>
              <a:latin typeface="Times New Roman" panose="02020603050405020304"/>
            </a:endParaRPr>
          </a:p>
          <a:p>
            <a:pPr algn="ctr"/>
            <a:r>
              <a:rPr sz="690" b="0">
                <a:solidFill>
                  <a:srgbClr val="202D41"/>
                </a:solidFill>
                <a:latin typeface="Times New Roman" panose="02020603050405020304"/>
              </a:rPr>
              <a:t>permission functions.</a:t>
            </a:r>
            <a:endParaRPr sz="690" b="0">
              <a:solidFill>
                <a:srgbClr val="202D41"/>
              </a:solidFill>
              <a:latin typeface="Times New Roman" panose="02020603050405020304"/>
            </a:endParaRPr>
          </a:p>
        </p:txBody>
      </p:sp>
      <p:pic>
        <p:nvPicPr>
          <p:cNvPr id="3" name="Picture 2" descr="Screenshot 2026-05-20 104456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266903" y="731520"/>
            <a:ext cx="2812634" cy="2365010"/>
          </a:xfrm>
          <a:prstGeom prst="rect">
            <a:avLst/>
          </a:prstGeom>
        </p:spPr>
      </p:pic>
      <p:pic>
        <p:nvPicPr>
          <p:cNvPr id="4" name="Picture 3" descr="Screenshot 2026-05-20 104745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5245735" y="795655"/>
            <a:ext cx="3669665" cy="1674495"/>
          </a:xfrm>
          <a:prstGeom prst="rect">
            <a:avLst/>
          </a:prstGeom>
        </p:spPr>
      </p:pic>
      <p:pic>
        <p:nvPicPr>
          <p:cNvPr id="5" name="Picture 4" descr="Screenshot 2026-05-20 104940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6132195" y="2707005"/>
            <a:ext cx="2653030" cy="2098675"/>
          </a:xfrm>
          <a:prstGeom prst="rect">
            <a:avLst/>
          </a:prstGeom>
        </p:spPr>
      </p:pic>
      <p:pic>
        <p:nvPicPr>
          <p:cNvPr id="2" name="Picture 1" descr="Screenshot 2026-05-20 105447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938530" y="3458845"/>
            <a:ext cx="2960370" cy="1249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09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7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137160"/>
            <a:ext cx="7772400" cy="292608"/>
          </a:xfrm>
          <a:prstGeom prst="rect">
            <a:avLst/>
          </a:prstGeom>
          <a:noFill/>
        </p:spPr>
        <p:txBody>
          <a:bodyPr wrap="square" lIns="12700" tIns="6350" rIns="12700" bIns="6350">
            <a:normAutofit fontScale="90000"/>
          </a:bodyPr>
          <a:lstStyle/>
          <a:p>
            <a:pPr algn="l"/>
            <a:r>
              <a:rPr lang="en-US" sz="2000" b="1">
                <a:solidFill>
                  <a:schemeClr val="tx1"/>
                </a:solidFill>
                <a:latin typeface="Times New Roman" panose="02020603050405020304"/>
              </a:rPr>
              <a:t>SYSTEM</a:t>
            </a:r>
            <a:r>
              <a:rPr sz="2000" b="1">
                <a:solidFill>
                  <a:schemeClr val="tx1"/>
                </a:solidFill>
                <a:latin typeface="Times New Roman" panose="02020603050405020304"/>
              </a:rPr>
              <a:t> FLOWCHART</a:t>
            </a:r>
            <a:endParaRPr sz="2000" b="1">
              <a:solidFill>
                <a:schemeClr val="tx1"/>
              </a:solidFill>
              <a:latin typeface="Times New Roman" panose="020206030504050203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21040" y="164592"/>
            <a:ext cx="640080" cy="228600"/>
          </a:xfrm>
          <a:prstGeom prst="rect">
            <a:avLst/>
          </a:prstGeom>
          <a:noFill/>
        </p:spPr>
        <p:txBody>
          <a:bodyPr wrap="square" lIns="12700" tIns="6350" rIns="12700" bIns="6350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 panose="02020603050405020304"/>
              </a:rPr>
              <a:t>9</a:t>
            </a:r>
            <a:endParaRPr sz="11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80" y="713232"/>
            <a:ext cx="8778240" cy="164592"/>
          </a:xfrm>
          <a:prstGeom prst="rect">
            <a:avLst/>
          </a:prstGeom>
          <a:noFill/>
        </p:spPr>
        <p:txBody>
          <a:bodyPr wrap="square" lIns="12700" tIns="6350" rIns="12700" bIns="6350">
            <a:normAutofit/>
          </a:bodyPr>
          <a:lstStyle/>
          <a:p>
            <a:pPr algn="ctr"/>
            <a:r>
              <a:rPr sz="860" b="1">
                <a:solidFill>
                  <a:srgbClr val="566479"/>
                </a:solidFill>
                <a:latin typeface="Times New Roman" panose="02020603050405020304"/>
              </a:rPr>
              <a:t>How BLE/acoustic attendance proof is accepted, rejected, or flagged</a:t>
            </a:r>
            <a:endParaRPr sz="860" b="1">
              <a:solidFill>
                <a:srgbClr val="566479"/>
              </a:solidFill>
              <a:latin typeface="Times New Roman" panose="020206030504050203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80" y="4910328"/>
            <a:ext cx="8778240" cy="128016"/>
          </a:xfrm>
          <a:prstGeom prst="rect">
            <a:avLst/>
          </a:prstGeom>
          <a:noFill/>
        </p:spPr>
        <p:txBody>
          <a:bodyPr wrap="square" lIns="12700" tIns="6350" rIns="12700" bIns="6350">
            <a:normAutofit/>
          </a:bodyPr>
          <a:lstStyle/>
          <a:p>
            <a:pPr algn="l"/>
            <a:r>
              <a:rPr sz="720" b="0">
                <a:solidFill>
                  <a:srgbClr val="FFFFFF"/>
                </a:solidFill>
                <a:latin typeface="Times New Roman" panose="02020603050405020304"/>
              </a:rPr>
              <a:t>Smart Attendance System | Dept. of Telecommunication Science | University of Ilorin</a:t>
            </a:r>
            <a:endParaRPr sz="720" b="0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28600" y="1042415"/>
            <a:ext cx="1078992" cy="411480"/>
          </a:xfrm>
          <a:prstGeom prst="roundRect">
            <a:avLst/>
          </a:prstGeom>
          <a:solidFill>
            <a:srgbClr val="E2EEFF"/>
          </a:solidFill>
          <a:ln w="11430"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rmAutofit/>
          </a:bodyPr>
          <a:lstStyle/>
          <a:p>
            <a:pPr algn="ctr"/>
            <a:r>
              <a:rPr sz="730" b="1">
                <a:solidFill>
                  <a:srgbClr val="071E48"/>
                </a:solidFill>
                <a:latin typeface="Times New Roman" panose="02020603050405020304"/>
              </a:rPr>
              <a:t>Submit
proof</a:t>
            </a:r>
            <a:endParaRPr sz="730" b="1">
              <a:solidFill>
                <a:srgbClr val="071E48"/>
              </a:solidFill>
              <a:latin typeface="Times New Roman" panose="02020603050405020304"/>
            </a:endParaRPr>
          </a:p>
        </p:txBody>
      </p:sp>
      <p:sp>
        <p:nvSpPr>
          <p:cNvPr id="10" name="Parallelogram 9"/>
          <p:cNvSpPr/>
          <p:nvPr/>
        </p:nvSpPr>
        <p:spPr>
          <a:xfrm>
            <a:off x="1536192" y="1005840"/>
            <a:ext cx="1234440" cy="484632"/>
          </a:xfrm>
          <a:prstGeom prst="parallelogram">
            <a:avLst/>
          </a:prstGeom>
          <a:solidFill>
            <a:srgbClr val="E1F9F4"/>
          </a:solidFill>
          <a:ln w="11430"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rmAutofit/>
          </a:bodyPr>
          <a:lstStyle/>
          <a:p>
            <a:pPr algn="ctr"/>
            <a:r>
              <a:rPr sz="700" b="0">
                <a:solidFill>
                  <a:srgbClr val="202D41"/>
                </a:solidFill>
                <a:latin typeface="Times New Roman" panose="02020603050405020304"/>
              </a:rPr>
              <a:t>Read proof
fields</a:t>
            </a:r>
            <a:endParaRPr sz="700" b="0">
              <a:solidFill>
                <a:srgbClr val="202D41"/>
              </a:solidFill>
              <a:latin typeface="Times New Roman" panose="02020603050405020304"/>
            </a:endParaRPr>
          </a:p>
        </p:txBody>
      </p:sp>
      <p:sp>
        <p:nvSpPr>
          <p:cNvPr id="11" name="Diamond 10"/>
          <p:cNvSpPr/>
          <p:nvPr/>
        </p:nvSpPr>
        <p:spPr>
          <a:xfrm>
            <a:off x="3063240" y="932688"/>
            <a:ext cx="841248" cy="640080"/>
          </a:xfrm>
          <a:prstGeom prst="diamond">
            <a:avLst/>
          </a:prstGeom>
          <a:solidFill>
            <a:srgbClr val="FFF7E2"/>
          </a:solidFill>
          <a:ln w="11430"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rmAutofit/>
          </a:bodyPr>
          <a:lstStyle/>
          <a:p>
            <a:pPr algn="ctr"/>
            <a:r>
              <a:rPr sz="670" b="1">
                <a:solidFill>
                  <a:srgbClr val="071E48"/>
                </a:solidFill>
                <a:latin typeface="Times New Roman" panose="02020603050405020304"/>
              </a:rPr>
              <a:t>Valid
format?</a:t>
            </a:r>
            <a:endParaRPr sz="670" b="1">
              <a:solidFill>
                <a:srgbClr val="071E48"/>
              </a:solidFill>
              <a:latin typeface="Times New Roman" panose="02020603050405020304"/>
            </a:endParaRPr>
          </a:p>
        </p:txBody>
      </p:sp>
      <p:sp>
        <p:nvSpPr>
          <p:cNvPr id="12" name="Diamond 11"/>
          <p:cNvSpPr/>
          <p:nvPr/>
        </p:nvSpPr>
        <p:spPr>
          <a:xfrm>
            <a:off x="4361688" y="932688"/>
            <a:ext cx="841248" cy="640080"/>
          </a:xfrm>
          <a:prstGeom prst="diamond">
            <a:avLst/>
          </a:prstGeom>
          <a:solidFill>
            <a:srgbClr val="FFF7E2"/>
          </a:solidFill>
          <a:ln w="11430"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rmAutofit/>
          </a:bodyPr>
          <a:lstStyle/>
          <a:p>
            <a:pPr algn="ctr"/>
            <a:r>
              <a:rPr sz="670" b="1">
                <a:solidFill>
                  <a:srgbClr val="071E48"/>
                </a:solidFill>
                <a:latin typeface="Times New Roman" panose="02020603050405020304"/>
              </a:rPr>
              <a:t>Active
session?</a:t>
            </a:r>
            <a:endParaRPr sz="670" b="1">
              <a:solidFill>
                <a:srgbClr val="071E48"/>
              </a:solidFill>
              <a:latin typeface="Times New Roman" panose="02020603050405020304"/>
            </a:endParaRPr>
          </a:p>
        </p:txBody>
      </p:sp>
      <p:sp>
        <p:nvSpPr>
          <p:cNvPr id="13" name="Diamond 12"/>
          <p:cNvSpPr/>
          <p:nvPr/>
        </p:nvSpPr>
        <p:spPr>
          <a:xfrm>
            <a:off x="5660136" y="932688"/>
            <a:ext cx="841248" cy="640080"/>
          </a:xfrm>
          <a:prstGeom prst="diamond">
            <a:avLst/>
          </a:prstGeom>
          <a:solidFill>
            <a:srgbClr val="FFF7E2"/>
          </a:solidFill>
          <a:ln w="11430"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rmAutofit/>
          </a:bodyPr>
          <a:lstStyle/>
          <a:p>
            <a:pPr algn="ctr"/>
            <a:r>
              <a:rPr sz="670" b="1">
                <a:solidFill>
                  <a:srgbClr val="071E48"/>
                </a:solidFill>
                <a:latin typeface="Times New Roman" panose="02020603050405020304"/>
              </a:rPr>
              <a:t>Fresh
signal?</a:t>
            </a:r>
            <a:endParaRPr sz="670" b="1">
              <a:solidFill>
                <a:srgbClr val="071E48"/>
              </a:solidFill>
              <a:latin typeface="Times New Roman" panose="020206030504050203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14032" y="1005840"/>
            <a:ext cx="1143000" cy="475488"/>
          </a:xfrm>
          <a:prstGeom prst="rect">
            <a:avLst/>
          </a:prstGeom>
          <a:solidFill>
            <a:srgbClr val="FFEEEE"/>
          </a:solidFill>
          <a:ln w="11430">
            <a:solidFill>
              <a:srgbClr val="BE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rmAutofit/>
          </a:bodyPr>
          <a:lstStyle/>
          <a:p>
            <a:pPr algn="ctr"/>
            <a:r>
              <a:rPr sz="700" b="1">
                <a:solidFill>
                  <a:srgbClr val="BE3A3A"/>
                </a:solidFill>
                <a:latin typeface="Times New Roman" panose="02020603050405020304"/>
              </a:rPr>
              <a:t>Reject
invalid</a:t>
            </a:r>
            <a:endParaRPr sz="700" b="1">
              <a:solidFill>
                <a:srgbClr val="BE3A3A"/>
              </a:solidFill>
              <a:latin typeface="Times New Roman" panose="02020603050405020304"/>
            </a:endParaRPr>
          </a:p>
        </p:txBody>
      </p:sp>
      <p:sp>
        <p:nvSpPr>
          <p:cNvPr id="15" name="Diamond 14"/>
          <p:cNvSpPr/>
          <p:nvPr/>
        </p:nvSpPr>
        <p:spPr>
          <a:xfrm>
            <a:off x="731520" y="2331720"/>
            <a:ext cx="914400" cy="694944"/>
          </a:xfrm>
          <a:prstGeom prst="diamond">
            <a:avLst/>
          </a:prstGeom>
          <a:solidFill>
            <a:srgbClr val="FFF7E2"/>
          </a:solidFill>
          <a:ln w="11430"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rmAutofit/>
          </a:bodyPr>
          <a:lstStyle/>
          <a:p>
            <a:pPr algn="ctr"/>
            <a:r>
              <a:rPr sz="680" b="1">
                <a:solidFill>
                  <a:srgbClr val="071E48"/>
                </a:solidFill>
                <a:latin typeface="Times New Roman" panose="02020603050405020304"/>
              </a:rPr>
              <a:t>Duplicate?</a:t>
            </a:r>
            <a:endParaRPr sz="680" b="1">
              <a:solidFill>
                <a:srgbClr val="071E48"/>
              </a:solidFill>
              <a:latin typeface="Times New Roman" panose="02020603050405020304"/>
            </a:endParaRPr>
          </a:p>
        </p:txBody>
      </p:sp>
      <p:sp>
        <p:nvSpPr>
          <p:cNvPr id="16" name="Diamond 15"/>
          <p:cNvSpPr/>
          <p:nvPr/>
        </p:nvSpPr>
        <p:spPr>
          <a:xfrm>
            <a:off x="2148840" y="2331720"/>
            <a:ext cx="914400" cy="694944"/>
          </a:xfrm>
          <a:prstGeom prst="diamond">
            <a:avLst/>
          </a:prstGeom>
          <a:solidFill>
            <a:srgbClr val="FFF7E2"/>
          </a:solidFill>
          <a:ln w="11430"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rmAutofit/>
          </a:bodyPr>
          <a:lstStyle/>
          <a:p>
            <a:pPr algn="ctr"/>
            <a:r>
              <a:rPr sz="680" b="1">
                <a:solidFill>
                  <a:srgbClr val="071E48"/>
                </a:solidFill>
                <a:latin typeface="Times New Roman" panose="02020603050405020304"/>
              </a:rPr>
              <a:t>Replay?</a:t>
            </a:r>
            <a:endParaRPr sz="680" b="1">
              <a:solidFill>
                <a:srgbClr val="071E48"/>
              </a:solidFill>
              <a:latin typeface="Times New Roman" panose="02020603050405020304"/>
            </a:endParaRPr>
          </a:p>
        </p:txBody>
      </p:sp>
      <p:sp>
        <p:nvSpPr>
          <p:cNvPr id="17" name="Diamond 16"/>
          <p:cNvSpPr/>
          <p:nvPr/>
        </p:nvSpPr>
        <p:spPr>
          <a:xfrm>
            <a:off x="3566160" y="2331720"/>
            <a:ext cx="914400" cy="694944"/>
          </a:xfrm>
          <a:prstGeom prst="diamond">
            <a:avLst/>
          </a:prstGeom>
          <a:solidFill>
            <a:srgbClr val="FFF7E2"/>
          </a:solidFill>
          <a:ln w="11430"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rmAutofit/>
          </a:bodyPr>
          <a:lstStyle/>
          <a:p>
            <a:pPr algn="ctr"/>
            <a:r>
              <a:rPr sz="660" b="1">
                <a:solidFill>
                  <a:srgbClr val="071E48"/>
                </a:solidFill>
                <a:latin typeface="Times New Roman" panose="02020603050405020304"/>
              </a:rPr>
              <a:t>Device
trusted?</a:t>
            </a:r>
            <a:endParaRPr sz="660" b="1">
              <a:solidFill>
                <a:srgbClr val="071E48"/>
              </a:solidFill>
              <a:latin typeface="Times New Roman" panose="020206030504050203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74920" y="2395728"/>
            <a:ext cx="1170432" cy="530352"/>
          </a:xfrm>
          <a:prstGeom prst="rect">
            <a:avLst/>
          </a:prstGeom>
          <a:solidFill>
            <a:srgbClr val="E8FAF1"/>
          </a:solidFill>
          <a:ln w="11430">
            <a:solidFill>
              <a:srgbClr val="10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rmAutofit/>
          </a:bodyPr>
          <a:lstStyle/>
          <a:p>
            <a:pPr algn="ctr"/>
            <a:r>
              <a:rPr sz="720" b="1">
                <a:solidFill>
                  <a:srgbClr val="109160"/>
                </a:solidFill>
                <a:latin typeface="Times New Roman" panose="02020603050405020304"/>
              </a:rPr>
              <a:t>Store
record</a:t>
            </a:r>
            <a:endParaRPr sz="720" b="1">
              <a:solidFill>
                <a:srgbClr val="109160"/>
              </a:solidFill>
              <a:latin typeface="Times New Roman" panose="02020603050405020304"/>
            </a:endParaRPr>
          </a:p>
        </p:txBody>
      </p:sp>
      <p:sp>
        <p:nvSpPr>
          <p:cNvPr id="19" name="Parallelogram 18"/>
          <p:cNvSpPr/>
          <p:nvPr/>
        </p:nvSpPr>
        <p:spPr>
          <a:xfrm>
            <a:off x="6720840" y="2395728"/>
            <a:ext cx="1298448" cy="530352"/>
          </a:xfrm>
          <a:prstGeom prst="parallelogram">
            <a:avLst/>
          </a:prstGeom>
          <a:solidFill>
            <a:srgbClr val="E1F9F4"/>
          </a:solidFill>
          <a:ln w="11430"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rmAutofit/>
          </a:bodyPr>
          <a:lstStyle/>
          <a:p>
            <a:pPr algn="ctr"/>
            <a:r>
              <a:rPr sz="680" b="1">
                <a:solidFill>
                  <a:srgbClr val="071E48"/>
                </a:solidFill>
                <a:latin typeface="Times New Roman" panose="02020603050405020304"/>
              </a:rPr>
              <a:t>Update report
&amp; CSV</a:t>
            </a:r>
            <a:endParaRPr sz="680" b="1">
              <a:solidFill>
                <a:srgbClr val="071E48"/>
              </a:solidFill>
              <a:latin typeface="Times New Roman" panose="020206030504050203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011680" y="3767328"/>
            <a:ext cx="1325880" cy="384048"/>
          </a:xfrm>
          <a:prstGeom prst="roundRect">
            <a:avLst/>
          </a:prstGeom>
          <a:solidFill>
            <a:srgbClr val="FFEEEE"/>
          </a:solidFill>
          <a:ln w="11430">
            <a:solidFill>
              <a:srgbClr val="BE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rmAutofit/>
          </a:bodyPr>
          <a:lstStyle/>
          <a:p>
            <a:pPr algn="ctr"/>
            <a:r>
              <a:rPr sz="750" b="1">
                <a:solidFill>
                  <a:srgbClr val="BE3A3A"/>
                </a:solidFill>
                <a:latin typeface="Times New Roman" panose="02020603050405020304"/>
              </a:rPr>
              <a:t>Reject / flag</a:t>
            </a:r>
            <a:endParaRPr sz="750" b="1">
              <a:solidFill>
                <a:srgbClr val="BE3A3A"/>
              </a:solidFill>
              <a:latin typeface="Times New Roman" panose="020206030504050203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303520" y="3767328"/>
            <a:ext cx="1325880" cy="384048"/>
          </a:xfrm>
          <a:prstGeom prst="roundRect">
            <a:avLst/>
          </a:prstGeom>
          <a:solidFill>
            <a:srgbClr val="E8FAF1"/>
          </a:solidFill>
          <a:ln w="11430">
            <a:solidFill>
              <a:srgbClr val="10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rmAutofit/>
          </a:bodyPr>
          <a:lstStyle/>
          <a:p>
            <a:pPr algn="ctr"/>
            <a:r>
              <a:rPr sz="800" b="1">
                <a:solidFill>
                  <a:srgbClr val="109160"/>
                </a:solidFill>
                <a:latin typeface="Times New Roman" panose="02020603050405020304"/>
              </a:rPr>
              <a:t>Accepted</a:t>
            </a:r>
            <a:endParaRPr sz="800" b="1">
              <a:solidFill>
                <a:srgbClr val="109160"/>
              </a:solidFill>
              <a:latin typeface="Times New Roman" panose="02020603050405020304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1307592" y="1243584"/>
            <a:ext cx="228600" cy="0"/>
          </a:xfrm>
          <a:prstGeom prst="line">
            <a:avLst/>
          </a:prstGeom>
          <a:ln w="15240">
            <a:solidFill>
              <a:srgbClr val="009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70632" y="1243584"/>
            <a:ext cx="292608" cy="0"/>
          </a:xfrm>
          <a:prstGeom prst="line">
            <a:avLst/>
          </a:prstGeom>
          <a:ln w="15240">
            <a:solidFill>
              <a:srgbClr val="009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904487" y="1243584"/>
            <a:ext cx="457201" cy="0"/>
          </a:xfrm>
          <a:prstGeom prst="line">
            <a:avLst/>
          </a:prstGeom>
          <a:ln w="15240">
            <a:solidFill>
              <a:srgbClr val="009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202936" y="1243584"/>
            <a:ext cx="457200" cy="0"/>
          </a:xfrm>
          <a:prstGeom prst="line">
            <a:avLst/>
          </a:prstGeom>
          <a:ln w="15240">
            <a:solidFill>
              <a:srgbClr val="009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501384" y="1243584"/>
            <a:ext cx="612648" cy="0"/>
          </a:xfrm>
          <a:prstGeom prst="line">
            <a:avLst/>
          </a:prstGeom>
          <a:ln w="15240">
            <a:solidFill>
              <a:srgbClr val="009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80760" y="1572768"/>
            <a:ext cx="0" cy="329184"/>
          </a:xfrm>
          <a:prstGeom prst="line">
            <a:avLst/>
          </a:prstGeom>
          <a:ln w="15240">
            <a:solidFill>
              <a:srgbClr val="009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1188720" y="1901952"/>
            <a:ext cx="4892040" cy="0"/>
          </a:xfrm>
          <a:prstGeom prst="line">
            <a:avLst/>
          </a:prstGeom>
          <a:ln w="15240">
            <a:solidFill>
              <a:srgbClr val="009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188720" y="1901952"/>
            <a:ext cx="0" cy="429768"/>
          </a:xfrm>
          <a:prstGeom prst="line">
            <a:avLst/>
          </a:prstGeom>
          <a:ln w="15240">
            <a:solidFill>
              <a:srgbClr val="009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645920" y="2679192"/>
            <a:ext cx="502920" cy="0"/>
          </a:xfrm>
          <a:prstGeom prst="line">
            <a:avLst/>
          </a:prstGeom>
          <a:ln w="15240">
            <a:solidFill>
              <a:srgbClr val="009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63240" y="2679192"/>
            <a:ext cx="502920" cy="0"/>
          </a:xfrm>
          <a:prstGeom prst="line">
            <a:avLst/>
          </a:prstGeom>
          <a:ln w="15240">
            <a:solidFill>
              <a:srgbClr val="009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480560" y="2679192"/>
            <a:ext cx="594360" cy="0"/>
          </a:xfrm>
          <a:prstGeom prst="line">
            <a:avLst/>
          </a:prstGeom>
          <a:ln w="15240">
            <a:solidFill>
              <a:srgbClr val="009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245352" y="2679192"/>
            <a:ext cx="475488" cy="0"/>
          </a:xfrm>
          <a:prstGeom prst="line">
            <a:avLst/>
          </a:prstGeom>
          <a:ln w="15240">
            <a:solidFill>
              <a:srgbClr val="009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650992" y="2926080"/>
            <a:ext cx="310896" cy="841248"/>
          </a:xfrm>
          <a:prstGeom prst="line">
            <a:avLst/>
          </a:prstGeom>
          <a:ln w="15240">
            <a:solidFill>
              <a:srgbClr val="109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88720" y="3026664"/>
            <a:ext cx="1188720" cy="740664"/>
          </a:xfrm>
          <a:prstGeom prst="line">
            <a:avLst/>
          </a:prstGeom>
          <a:ln w="15240">
            <a:solidFill>
              <a:srgbClr val="BE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606040" y="3026664"/>
            <a:ext cx="0" cy="740664"/>
          </a:xfrm>
          <a:prstGeom prst="line">
            <a:avLst/>
          </a:prstGeom>
          <a:ln w="15240">
            <a:solidFill>
              <a:srgbClr val="BE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3063240" y="3026664"/>
            <a:ext cx="960120" cy="740664"/>
          </a:xfrm>
          <a:prstGeom prst="line">
            <a:avLst/>
          </a:prstGeom>
          <a:ln w="15240">
            <a:solidFill>
              <a:srgbClr val="BE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583680" y="1051560"/>
            <a:ext cx="228600" cy="109728"/>
          </a:xfrm>
          <a:prstGeom prst="rect">
            <a:avLst/>
          </a:prstGeom>
          <a:noFill/>
        </p:spPr>
        <p:txBody>
          <a:bodyPr wrap="square" lIns="12700" tIns="6350" rIns="12700" bIns="6350">
            <a:normAutofit/>
          </a:bodyPr>
          <a:lstStyle/>
          <a:p>
            <a:pPr algn="ctr"/>
            <a:r>
              <a:rPr sz="600" b="1">
                <a:solidFill>
                  <a:srgbClr val="BE3A3A"/>
                </a:solidFill>
                <a:latin typeface="Times New Roman" panose="02020603050405020304"/>
              </a:rPr>
              <a:t>No</a:t>
            </a:r>
            <a:endParaRPr sz="600" b="1">
              <a:solidFill>
                <a:srgbClr val="BE3A3A"/>
              </a:solidFill>
              <a:latin typeface="Times New Roman" panose="020206030504050203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172200" y="1627632"/>
            <a:ext cx="256032" cy="109728"/>
          </a:xfrm>
          <a:prstGeom prst="rect">
            <a:avLst/>
          </a:prstGeom>
          <a:noFill/>
        </p:spPr>
        <p:txBody>
          <a:bodyPr wrap="square" lIns="12700" tIns="6350" rIns="12700" bIns="6350">
            <a:normAutofit/>
          </a:bodyPr>
          <a:lstStyle/>
          <a:p>
            <a:pPr algn="ctr"/>
            <a:r>
              <a:rPr sz="600" b="1">
                <a:solidFill>
                  <a:srgbClr val="109160"/>
                </a:solidFill>
                <a:latin typeface="Times New Roman" panose="02020603050405020304"/>
              </a:rPr>
              <a:t>Yes</a:t>
            </a:r>
            <a:endParaRPr sz="600" b="1">
              <a:solidFill>
                <a:srgbClr val="109160"/>
              </a:solidFill>
              <a:latin typeface="Times New Roman" panose="02020603050405020304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691640" y="2487168"/>
            <a:ext cx="228600" cy="109728"/>
          </a:xfrm>
          <a:prstGeom prst="rect">
            <a:avLst/>
          </a:prstGeom>
          <a:noFill/>
        </p:spPr>
        <p:txBody>
          <a:bodyPr wrap="square" lIns="12700" tIns="6350" rIns="12700" bIns="6350">
            <a:normAutofit/>
          </a:bodyPr>
          <a:lstStyle/>
          <a:p>
            <a:pPr algn="ctr"/>
            <a:r>
              <a:rPr sz="600" b="1">
                <a:solidFill>
                  <a:srgbClr val="109160"/>
                </a:solidFill>
                <a:latin typeface="Times New Roman" panose="02020603050405020304"/>
              </a:rPr>
              <a:t>No</a:t>
            </a:r>
            <a:endParaRPr sz="600" b="1">
              <a:solidFill>
                <a:srgbClr val="109160"/>
              </a:solidFill>
              <a:latin typeface="Times New Roman" panose="02020603050405020304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108960" y="2487168"/>
            <a:ext cx="228600" cy="109728"/>
          </a:xfrm>
          <a:prstGeom prst="rect">
            <a:avLst/>
          </a:prstGeom>
          <a:noFill/>
        </p:spPr>
        <p:txBody>
          <a:bodyPr wrap="square" lIns="12700" tIns="6350" rIns="12700" bIns="6350">
            <a:normAutofit/>
          </a:bodyPr>
          <a:lstStyle/>
          <a:p>
            <a:pPr algn="ctr"/>
            <a:r>
              <a:rPr sz="600" b="1">
                <a:solidFill>
                  <a:srgbClr val="109160"/>
                </a:solidFill>
                <a:latin typeface="Times New Roman" panose="02020603050405020304"/>
              </a:rPr>
              <a:t>No</a:t>
            </a:r>
            <a:endParaRPr sz="600" b="1">
              <a:solidFill>
                <a:srgbClr val="109160"/>
              </a:solidFill>
              <a:latin typeface="Times New Roman" panose="02020603050405020304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535424" y="2487168"/>
            <a:ext cx="256032" cy="109728"/>
          </a:xfrm>
          <a:prstGeom prst="rect">
            <a:avLst/>
          </a:prstGeom>
          <a:noFill/>
        </p:spPr>
        <p:txBody>
          <a:bodyPr wrap="square" lIns="12700" tIns="6350" rIns="12700" bIns="6350">
            <a:normAutofit/>
          </a:bodyPr>
          <a:lstStyle/>
          <a:p>
            <a:pPr algn="ctr"/>
            <a:r>
              <a:rPr sz="600" b="1">
                <a:solidFill>
                  <a:srgbClr val="109160"/>
                </a:solidFill>
                <a:latin typeface="Times New Roman" panose="02020603050405020304"/>
              </a:rPr>
              <a:t>Yes</a:t>
            </a:r>
            <a:endParaRPr sz="600" b="1">
              <a:solidFill>
                <a:srgbClr val="109160"/>
              </a:solidFill>
              <a:latin typeface="Times New Roman" panose="02020603050405020304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536192" y="3182112"/>
            <a:ext cx="256032" cy="109728"/>
          </a:xfrm>
          <a:prstGeom prst="rect">
            <a:avLst/>
          </a:prstGeom>
          <a:noFill/>
        </p:spPr>
        <p:txBody>
          <a:bodyPr wrap="square" lIns="12700" tIns="6350" rIns="12700" bIns="6350">
            <a:normAutofit/>
          </a:bodyPr>
          <a:lstStyle/>
          <a:p>
            <a:pPr algn="ctr"/>
            <a:r>
              <a:rPr sz="600" b="1">
                <a:solidFill>
                  <a:srgbClr val="BE3A3A"/>
                </a:solidFill>
                <a:latin typeface="Times New Roman" panose="02020603050405020304"/>
              </a:rPr>
              <a:t>Yes</a:t>
            </a:r>
            <a:endParaRPr sz="600" b="1">
              <a:solidFill>
                <a:srgbClr val="BE3A3A"/>
              </a:solidFill>
              <a:latin typeface="Times New Roman" panose="02020603050405020304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743200" y="3182112"/>
            <a:ext cx="256032" cy="109728"/>
          </a:xfrm>
          <a:prstGeom prst="rect">
            <a:avLst/>
          </a:prstGeom>
          <a:noFill/>
        </p:spPr>
        <p:txBody>
          <a:bodyPr wrap="square" lIns="12700" tIns="6350" rIns="12700" bIns="6350">
            <a:normAutofit/>
          </a:bodyPr>
          <a:lstStyle/>
          <a:p>
            <a:pPr algn="ctr"/>
            <a:r>
              <a:rPr sz="600" b="1">
                <a:solidFill>
                  <a:srgbClr val="BE3A3A"/>
                </a:solidFill>
                <a:latin typeface="Times New Roman" panose="02020603050405020304"/>
              </a:rPr>
              <a:t>Yes</a:t>
            </a:r>
            <a:endParaRPr sz="600" b="1">
              <a:solidFill>
                <a:srgbClr val="BE3A3A"/>
              </a:solidFill>
              <a:latin typeface="Times New Roman" panose="02020603050405020304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730752" y="3182112"/>
            <a:ext cx="228600" cy="109728"/>
          </a:xfrm>
          <a:prstGeom prst="rect">
            <a:avLst/>
          </a:prstGeom>
          <a:noFill/>
        </p:spPr>
        <p:txBody>
          <a:bodyPr wrap="square" lIns="12700" tIns="6350" rIns="12700" bIns="6350">
            <a:normAutofit/>
          </a:bodyPr>
          <a:lstStyle/>
          <a:p>
            <a:pPr algn="ctr"/>
            <a:r>
              <a:rPr sz="600" b="1">
                <a:solidFill>
                  <a:srgbClr val="BE3A3A"/>
                </a:solidFill>
                <a:latin typeface="Times New Roman" panose="02020603050405020304"/>
              </a:rPr>
              <a:t>No</a:t>
            </a:r>
            <a:endParaRPr sz="600" b="1">
              <a:solidFill>
                <a:srgbClr val="BE3A3A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7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09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" name="Rectangle 24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7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TextBox 25"/>
          <p:cNvSpPr txBox="1"/>
          <p:nvPr/>
        </p:nvSpPr>
        <p:spPr>
          <a:xfrm>
            <a:off x="137160" y="137160"/>
            <a:ext cx="7772400" cy="292608"/>
          </a:xfrm>
          <a:prstGeom prst="rect">
            <a:avLst/>
          </a:prstGeom>
          <a:noFill/>
        </p:spPr>
        <p:txBody>
          <a:bodyPr wrap="square" lIns="25400" tIns="12700" rIns="25400" bIns="12700">
            <a:no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Times New Roman" panose="02020603050405020304"/>
              </a:rPr>
              <a:t>TESTING AND PRELIMINARY RESULTS</a:t>
            </a:r>
            <a:endParaRPr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82880" y="713232"/>
            <a:ext cx="877824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850" b="1">
                <a:solidFill>
                  <a:srgbClr val="566479"/>
                </a:solidFill>
                <a:latin typeface="Times New Roman" panose="02020603050405020304"/>
              </a:rPr>
              <a:t>Early Android-device tests used to confirm functionality, signal behaviour and backend validation</a:t>
            </a:r>
            <a:endParaRPr sz="850" b="1">
              <a:solidFill>
                <a:srgbClr val="566479"/>
              </a:solidFill>
              <a:latin typeface="Times New Roman" panose="020206030504050203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82880" y="4910328"/>
            <a:ext cx="8778240" cy="12801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20" b="0">
                <a:solidFill>
                  <a:srgbClr val="FFFFFF"/>
                </a:solidFill>
                <a:latin typeface="Times New Roman" panose="02020603050405020304"/>
              </a:rPr>
              <a:t>Smart Attendance System | Dept. of Telecommunication Science | University of Ilorin</a:t>
            </a:r>
            <a:endParaRPr sz="720" b="0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228600" y="960120"/>
            <a:ext cx="4160520" cy="3246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1430"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1" name="TextBox 30"/>
          <p:cNvSpPr txBox="1"/>
          <p:nvPr/>
        </p:nvSpPr>
        <p:spPr>
          <a:xfrm>
            <a:off x="411480" y="1078992"/>
            <a:ext cx="3749039" cy="201168"/>
          </a:xfrm>
          <a:prstGeom prst="rect">
            <a:avLst/>
          </a:prstGeom>
          <a:noFill/>
        </p:spPr>
        <p:txBody>
          <a:bodyPr wrap="square" lIns="25400" tIns="12700" rIns="25400" bIns="12700">
            <a:noAutofit/>
          </a:bodyPr>
          <a:lstStyle/>
          <a:p>
            <a:pPr algn="ctr"/>
            <a:r>
              <a:rPr sz="1400" b="1">
                <a:solidFill>
                  <a:srgbClr val="071E48"/>
                </a:solidFill>
                <a:latin typeface="Times New Roman" panose="02020603050405020304"/>
              </a:rPr>
              <a:t>Functional and Security Tests</a:t>
            </a:r>
            <a:endParaRPr sz="1400" b="1">
              <a:solidFill>
                <a:srgbClr val="071E48"/>
              </a:solidFill>
              <a:latin typeface="Times New Roman" panose="02020603050405020304"/>
            </a:endParaRP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84048" y="1417320"/>
          <a:ext cx="3840480" cy="2542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243584"/>
                <a:gridCol w="1051560"/>
                <a:gridCol w="493776"/>
              </a:tblGrid>
              <a:tr h="423672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Test Area</a:t>
                      </a:r>
                      <a:endParaRPr sz="880" b="1">
                        <a:solidFill>
                          <a:srgbClr val="FFFFFF"/>
                        </a:solidFill>
                        <a:latin typeface="Times New Roman" panose="02020603050405020304"/>
                      </a:endParaRPr>
                    </a:p>
                  </a:txBody>
                  <a:tcPr anchor="ctr" anchorCtr="0">
                    <a:solidFill>
                      <a:srgbClr val="071E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What was tested</a:t>
                      </a:r>
                      <a:endParaRPr sz="880" b="1">
                        <a:solidFill>
                          <a:srgbClr val="FFFFFF"/>
                        </a:solidFill>
                        <a:latin typeface="Times New Roman" panose="02020603050405020304"/>
                      </a:endParaRPr>
                    </a:p>
                  </a:txBody>
                  <a:tcPr anchor="ctr" anchorCtr="0">
                    <a:solidFill>
                      <a:srgbClr val="071E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Observed result</a:t>
                      </a:r>
                      <a:endParaRPr sz="880" b="1">
                        <a:solidFill>
                          <a:srgbClr val="FFFFFF"/>
                        </a:solidFill>
                        <a:latin typeface="Times New Roman" panose="02020603050405020304"/>
                      </a:endParaRPr>
                    </a:p>
                  </a:txBody>
                  <a:tcPr anchor="ctr" anchorCtr="0">
                    <a:solidFill>
                      <a:srgbClr val="071E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Status</a:t>
                      </a:r>
                      <a:endParaRPr sz="880" b="1">
                        <a:solidFill>
                          <a:srgbClr val="FFFFFF"/>
                        </a:solidFill>
                        <a:latin typeface="Times New Roman" panose="02020603050405020304"/>
                      </a:endParaRPr>
                    </a:p>
                  </a:txBody>
                  <a:tcPr anchor="ctr" anchorCtr="0">
                    <a:solidFill>
                      <a:srgbClr val="071E48"/>
                    </a:solidFill>
                  </a:tcPr>
                </a:tc>
              </a:tr>
              <a:tr h="4236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202D41"/>
                          </a:solidFill>
                          <a:latin typeface="Times New Roman" panose="02020603050405020304"/>
                        </a:rPr>
                        <a:t>Workflow</a:t>
                      </a:r>
                      <a:endParaRPr sz="840" b="0">
                        <a:solidFill>
                          <a:srgbClr val="202D41"/>
                        </a:solidFill>
                        <a:latin typeface="Times New Roman" panose="02020603050405020304"/>
                      </a:endParaRPr>
                    </a:p>
                  </a:txBody>
                  <a:tcPr marL="18288" marR="18288" marT="9144" marB="9144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202D41"/>
                          </a:solidFill>
                          <a:latin typeface="Times New Roman" panose="02020603050405020304"/>
                        </a:rPr>
                        <a:t>Login, session creation, scan, submit</a:t>
                      </a:r>
                      <a:endParaRPr sz="840" b="0">
                        <a:solidFill>
                          <a:srgbClr val="202D41"/>
                        </a:solidFill>
                        <a:latin typeface="Times New Roman" panose="02020603050405020304"/>
                      </a:endParaRPr>
                    </a:p>
                  </a:txBody>
                  <a:tcPr marL="18288" marR="18288" marT="9144" marB="9144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202D41"/>
                          </a:solidFill>
                          <a:latin typeface="Times New Roman" panose="02020603050405020304"/>
                        </a:rPr>
                        <a:t>End-to-end flow worked</a:t>
                      </a:r>
                      <a:endParaRPr sz="840" b="0">
                        <a:solidFill>
                          <a:srgbClr val="202D41"/>
                        </a:solidFill>
                        <a:latin typeface="Times New Roman" panose="02020603050405020304"/>
                      </a:endParaRPr>
                    </a:p>
                  </a:txBody>
                  <a:tcPr marL="18288" marR="18288" marT="9144" marB="9144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109160"/>
                          </a:solidFill>
                          <a:latin typeface="Times New Roman" panose="02020603050405020304"/>
                        </a:rPr>
                        <a:t>Pass</a:t>
                      </a:r>
                      <a:endParaRPr sz="840" b="1">
                        <a:solidFill>
                          <a:srgbClr val="109160"/>
                        </a:solidFill>
                        <a:latin typeface="Times New Roman" panose="02020603050405020304"/>
                      </a:endParaRPr>
                    </a:p>
                  </a:txBody>
                  <a:tcPr marL="18288" marR="18288" marT="9144" marB="9144" anchor="ctr" anchorCtr="0">
                    <a:solidFill>
                      <a:srgbClr val="FFFFFF"/>
                    </a:solidFill>
                  </a:tcPr>
                </a:tc>
              </a:tr>
              <a:tr h="4236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202D41"/>
                          </a:solidFill>
                          <a:latin typeface="Times New Roman" panose="02020603050405020304"/>
                        </a:rPr>
                        <a:t>BLE scan</a:t>
                      </a:r>
                      <a:endParaRPr sz="840" b="0">
                        <a:solidFill>
                          <a:srgbClr val="202D41"/>
                        </a:solidFill>
                        <a:latin typeface="Times New Roman" panose="02020603050405020304"/>
                      </a:endParaRPr>
                    </a:p>
                  </a:txBody>
                  <a:tcPr marL="18288" marR="18288" marT="9144" marB="9144" anchor="ctr" anchorCtr="0"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202D41"/>
                          </a:solidFill>
                          <a:latin typeface="Times New Roman" panose="02020603050405020304"/>
                        </a:rPr>
                        <a:t>Lecturer broadcast + student scan</a:t>
                      </a:r>
                      <a:endParaRPr sz="840" b="0">
                        <a:solidFill>
                          <a:srgbClr val="202D41"/>
                        </a:solidFill>
                        <a:latin typeface="Times New Roman" panose="02020603050405020304"/>
                      </a:endParaRPr>
                    </a:p>
                  </a:txBody>
                  <a:tcPr marL="18288" marR="18288" marT="9144" marB="9144" anchor="ctr" anchorCtr="0"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202D41"/>
                          </a:solidFill>
                          <a:latin typeface="Times New Roman" panose="02020603050405020304"/>
                        </a:rPr>
                        <a:t>Detected after permissions</a:t>
                      </a:r>
                      <a:endParaRPr sz="840" b="0">
                        <a:solidFill>
                          <a:srgbClr val="202D41"/>
                        </a:solidFill>
                        <a:latin typeface="Times New Roman" panose="02020603050405020304"/>
                      </a:endParaRPr>
                    </a:p>
                  </a:txBody>
                  <a:tcPr marL="18288" marR="18288" marT="9144" marB="9144" anchor="ctr" anchorCtr="0"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109160"/>
                          </a:solidFill>
                          <a:latin typeface="Times New Roman" panose="02020603050405020304"/>
                        </a:rPr>
                        <a:t>Pass</a:t>
                      </a:r>
                      <a:endParaRPr sz="840" b="1">
                        <a:solidFill>
                          <a:srgbClr val="109160"/>
                        </a:solidFill>
                        <a:latin typeface="Times New Roman" panose="02020603050405020304"/>
                      </a:endParaRPr>
                    </a:p>
                  </a:txBody>
                  <a:tcPr marL="18288" marR="18288" marT="9144" marB="9144" anchor="ctr" anchorCtr="0">
                    <a:solidFill>
                      <a:srgbClr val="F3F8FF"/>
                    </a:solidFill>
                  </a:tcPr>
                </a:tc>
              </a:tr>
              <a:tr h="4236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202D41"/>
                          </a:solidFill>
                          <a:latin typeface="Times New Roman" panose="02020603050405020304"/>
                        </a:rPr>
                        <a:t>Acoustic scan</a:t>
                      </a:r>
                      <a:endParaRPr sz="840" b="0">
                        <a:solidFill>
                          <a:srgbClr val="202D41"/>
                        </a:solidFill>
                        <a:latin typeface="Times New Roman" panose="02020603050405020304"/>
                      </a:endParaRPr>
                    </a:p>
                  </a:txBody>
                  <a:tcPr marL="18288" marR="18288" marT="9144" marB="9144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202D41"/>
                          </a:solidFill>
                          <a:latin typeface="Times New Roman" panose="02020603050405020304"/>
                        </a:rPr>
                        <a:t>Phone speaker to microphone token</a:t>
                      </a:r>
                      <a:endParaRPr sz="840" b="0">
                        <a:solidFill>
                          <a:srgbClr val="202D41"/>
                        </a:solidFill>
                        <a:latin typeface="Times New Roman" panose="02020603050405020304"/>
                      </a:endParaRPr>
                    </a:p>
                  </a:txBody>
                  <a:tcPr marL="18288" marR="18288" marT="9144" marB="9144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202D41"/>
                          </a:solidFill>
                          <a:latin typeface="Times New Roman" panose="02020603050405020304"/>
                        </a:rPr>
                        <a:t>Decoded at close range</a:t>
                      </a:r>
                      <a:endParaRPr sz="840" b="0">
                        <a:solidFill>
                          <a:srgbClr val="202D41"/>
                        </a:solidFill>
                        <a:latin typeface="Times New Roman" panose="02020603050405020304"/>
                      </a:endParaRPr>
                    </a:p>
                  </a:txBody>
                  <a:tcPr marL="18288" marR="18288" marT="9144" marB="9144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109160"/>
                          </a:solidFill>
                          <a:latin typeface="Times New Roman" panose="02020603050405020304"/>
                        </a:rPr>
                        <a:t>Pass</a:t>
                      </a:r>
                      <a:endParaRPr sz="840" b="1">
                        <a:solidFill>
                          <a:srgbClr val="109160"/>
                        </a:solidFill>
                        <a:latin typeface="Times New Roman" panose="02020603050405020304"/>
                      </a:endParaRPr>
                    </a:p>
                  </a:txBody>
                  <a:tcPr marL="18288" marR="18288" marT="9144" marB="9144" anchor="ctr" anchorCtr="0">
                    <a:solidFill>
                      <a:srgbClr val="FFFFFF"/>
                    </a:solidFill>
                  </a:tcPr>
                </a:tc>
              </a:tr>
              <a:tr h="4236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202D41"/>
                          </a:solidFill>
                          <a:latin typeface="Times New Roman" panose="02020603050405020304"/>
                        </a:rPr>
                        <a:t>Validation</a:t>
                      </a:r>
                      <a:endParaRPr sz="840" b="0">
                        <a:solidFill>
                          <a:srgbClr val="202D41"/>
                        </a:solidFill>
                        <a:latin typeface="Times New Roman" panose="02020603050405020304"/>
                      </a:endParaRPr>
                    </a:p>
                  </a:txBody>
                  <a:tcPr marL="18288" marR="18288" marT="9144" marB="9144" anchor="ctr" anchorCtr="0"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202D41"/>
                          </a:solidFill>
                          <a:latin typeface="Times New Roman" panose="02020603050405020304"/>
                        </a:rPr>
                        <a:t>Duplicate/replay/device checks</a:t>
                      </a:r>
                      <a:endParaRPr sz="840" b="0">
                        <a:solidFill>
                          <a:srgbClr val="202D41"/>
                        </a:solidFill>
                        <a:latin typeface="Times New Roman" panose="02020603050405020304"/>
                      </a:endParaRPr>
                    </a:p>
                  </a:txBody>
                  <a:tcPr marL="18288" marR="18288" marT="9144" marB="9144" anchor="ctr" anchorCtr="0"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202D41"/>
                          </a:solidFill>
                          <a:latin typeface="Times New Roman" panose="02020603050405020304"/>
                        </a:rPr>
                        <a:t>Invalid cases rejected/blocked</a:t>
                      </a:r>
                      <a:endParaRPr sz="840" b="0">
                        <a:solidFill>
                          <a:srgbClr val="202D41"/>
                        </a:solidFill>
                        <a:latin typeface="Times New Roman" panose="02020603050405020304"/>
                      </a:endParaRPr>
                    </a:p>
                  </a:txBody>
                  <a:tcPr marL="18288" marR="18288" marT="9144" marB="9144" anchor="ctr" anchorCtr="0"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109160"/>
                          </a:solidFill>
                          <a:latin typeface="Times New Roman" panose="02020603050405020304"/>
                        </a:rPr>
                        <a:t>Pass</a:t>
                      </a:r>
                      <a:endParaRPr sz="840" b="1">
                        <a:solidFill>
                          <a:srgbClr val="109160"/>
                        </a:solidFill>
                        <a:latin typeface="Times New Roman" panose="02020603050405020304"/>
                      </a:endParaRPr>
                    </a:p>
                  </a:txBody>
                  <a:tcPr marL="18288" marR="18288" marT="9144" marB="9144" anchor="ctr" anchorCtr="0">
                    <a:solidFill>
                      <a:srgbClr val="F3F8FF"/>
                    </a:solidFill>
                  </a:tcPr>
                </a:tc>
              </a:tr>
              <a:tr h="4236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202D41"/>
                          </a:solidFill>
                          <a:latin typeface="Times New Roman" panose="02020603050405020304"/>
                        </a:rPr>
                        <a:t>Reporting</a:t>
                      </a:r>
                      <a:endParaRPr sz="840" b="0">
                        <a:solidFill>
                          <a:srgbClr val="202D41"/>
                        </a:solidFill>
                        <a:latin typeface="Times New Roman" panose="02020603050405020304"/>
                      </a:endParaRPr>
                    </a:p>
                  </a:txBody>
                  <a:tcPr marL="18288" marR="18288" marT="9144" marB="9144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202D41"/>
                          </a:solidFill>
                          <a:latin typeface="Times New Roman" panose="02020603050405020304"/>
                        </a:rPr>
                        <a:t>Session report and CSV export</a:t>
                      </a:r>
                      <a:endParaRPr sz="840" b="0">
                        <a:solidFill>
                          <a:srgbClr val="202D41"/>
                        </a:solidFill>
                        <a:latin typeface="Times New Roman" panose="02020603050405020304"/>
                      </a:endParaRPr>
                    </a:p>
                  </a:txBody>
                  <a:tcPr marL="18288" marR="18288" marT="9144" marB="9144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202D41"/>
                          </a:solidFill>
                          <a:latin typeface="Times New Roman" panose="02020603050405020304"/>
                        </a:rPr>
                        <a:t>Report/export generated</a:t>
                      </a:r>
                      <a:endParaRPr sz="840" b="0">
                        <a:solidFill>
                          <a:srgbClr val="202D41"/>
                        </a:solidFill>
                        <a:latin typeface="Times New Roman" panose="02020603050405020304"/>
                      </a:endParaRPr>
                    </a:p>
                  </a:txBody>
                  <a:tcPr marL="18288" marR="18288" marT="9144" marB="9144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109160"/>
                          </a:solidFill>
                          <a:latin typeface="Times New Roman" panose="02020603050405020304"/>
                        </a:rPr>
                        <a:t>Pass</a:t>
                      </a:r>
                      <a:endParaRPr sz="840" b="1">
                        <a:solidFill>
                          <a:srgbClr val="109160"/>
                        </a:solidFill>
                        <a:latin typeface="Times New Roman" panose="02020603050405020304"/>
                      </a:endParaRPr>
                    </a:p>
                  </a:txBody>
                  <a:tcPr marL="18288" marR="18288" marT="9144" marB="9144" anchor="ctr" anchorCtr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ounded Rectangle 32"/>
          <p:cNvSpPr/>
          <p:nvPr/>
        </p:nvSpPr>
        <p:spPr>
          <a:xfrm>
            <a:off x="4645152" y="960120"/>
            <a:ext cx="4251960" cy="3246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1430"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4" name="TextBox 33"/>
          <p:cNvSpPr txBox="1"/>
          <p:nvPr/>
        </p:nvSpPr>
        <p:spPr>
          <a:xfrm>
            <a:off x="4828032" y="1078992"/>
            <a:ext cx="3886200" cy="201168"/>
          </a:xfrm>
          <a:prstGeom prst="rect">
            <a:avLst/>
          </a:prstGeom>
          <a:noFill/>
        </p:spPr>
        <p:txBody>
          <a:bodyPr wrap="square" lIns="25400" tIns="12700" rIns="25400" bIns="12700">
            <a:noAutofit/>
          </a:bodyPr>
          <a:lstStyle/>
          <a:p>
            <a:pPr algn="ctr"/>
            <a:r>
              <a:rPr sz="1400" b="1">
                <a:solidFill>
                  <a:srgbClr val="071E48"/>
                </a:solidFill>
                <a:latin typeface="Times New Roman" panose="02020603050405020304"/>
              </a:rPr>
              <a:t>Preliminary Signal Observations</a:t>
            </a:r>
            <a:endParaRPr sz="1400" b="1">
              <a:solidFill>
                <a:srgbClr val="071E48"/>
              </a:solidFill>
              <a:latin typeface="Times New Roman" panose="02020603050405020304"/>
            </a:endParaRP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4800600" y="1417320"/>
          <a:ext cx="3950208" cy="2542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8952"/>
                <a:gridCol w="1234440"/>
                <a:gridCol w="1024128"/>
                <a:gridCol w="932688"/>
              </a:tblGrid>
              <a:tr h="508406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Signal</a:t>
                      </a:r>
                      <a:endParaRPr sz="880" b="1">
                        <a:solidFill>
                          <a:srgbClr val="FFFFFF"/>
                        </a:solidFill>
                        <a:latin typeface="Times New Roman" panose="02020603050405020304"/>
                      </a:endParaRPr>
                    </a:p>
                  </a:txBody>
                  <a:tcPr anchor="ctr" anchorCtr="0">
                    <a:solidFill>
                      <a:srgbClr val="071E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Condition</a:t>
                      </a:r>
                      <a:endParaRPr sz="880" b="1">
                        <a:solidFill>
                          <a:srgbClr val="FFFFFF"/>
                        </a:solidFill>
                        <a:latin typeface="Times New Roman" panose="02020603050405020304"/>
                      </a:endParaRPr>
                    </a:p>
                  </a:txBody>
                  <a:tcPr anchor="ctr" anchorCtr="0">
                    <a:solidFill>
                      <a:srgbClr val="071E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Observed range</a:t>
                      </a:r>
                      <a:endParaRPr sz="880" b="1">
                        <a:solidFill>
                          <a:srgbClr val="FFFFFF"/>
                        </a:solidFill>
                        <a:latin typeface="Times New Roman" panose="02020603050405020304"/>
                      </a:endParaRPr>
                    </a:p>
                  </a:txBody>
                  <a:tcPr anchor="ctr" anchorCtr="0">
                    <a:solidFill>
                      <a:srgbClr val="071E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Result</a:t>
                      </a:r>
                      <a:endParaRPr sz="880" b="1">
                        <a:solidFill>
                          <a:srgbClr val="FFFFFF"/>
                        </a:solidFill>
                        <a:latin typeface="Times New Roman" panose="02020603050405020304"/>
                      </a:endParaRPr>
                    </a:p>
                  </a:txBody>
                  <a:tcPr anchor="ctr" anchorCtr="0">
                    <a:solidFill>
                      <a:srgbClr val="071E48"/>
                    </a:solidFill>
                  </a:tcPr>
                </a:tc>
              </a:tr>
              <a:tr h="50840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30">
                          <a:solidFill>
                            <a:srgbClr val="202D41"/>
                          </a:solidFill>
                          <a:latin typeface="Times New Roman" panose="02020603050405020304"/>
                        </a:rPr>
                        <a:t>BLE</a:t>
                      </a:r>
                      <a:endParaRPr sz="830">
                        <a:solidFill>
                          <a:srgbClr val="202D41"/>
                        </a:solidFill>
                        <a:latin typeface="Times New Roman" panose="02020603050405020304"/>
                      </a:endParaRPr>
                    </a:p>
                  </a:txBody>
                  <a:tcPr marL="18288" marR="18288" marT="9144" marB="9144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30">
                          <a:solidFill>
                            <a:srgbClr val="202D41"/>
                          </a:solidFill>
                          <a:latin typeface="Times New Roman" panose="02020603050405020304"/>
                        </a:rPr>
                        <a:t>Bluetooth + Nearby + Location permissions enabled</a:t>
                      </a:r>
                      <a:endParaRPr sz="830">
                        <a:solidFill>
                          <a:srgbClr val="202D41"/>
                        </a:solidFill>
                        <a:latin typeface="Times New Roman" panose="02020603050405020304"/>
                      </a:endParaRPr>
                    </a:p>
                  </a:txBody>
                  <a:tcPr marL="18288" marR="18288" marT="9144" marB="9144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30">
                          <a:solidFill>
                            <a:srgbClr val="202D41"/>
                          </a:solidFill>
                          <a:latin typeface="Times New Roman" panose="02020603050405020304"/>
                        </a:rPr>
                        <a:t>About 5-10 m</a:t>
                      </a:r>
                      <a:endParaRPr sz="830">
                        <a:solidFill>
                          <a:srgbClr val="202D41"/>
                        </a:solidFill>
                        <a:latin typeface="Times New Roman" panose="02020603050405020304"/>
                      </a:endParaRPr>
                    </a:p>
                  </a:txBody>
                  <a:tcPr marL="18288" marR="18288" marT="9144" marB="9144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30" b="1">
                          <a:solidFill>
                            <a:srgbClr val="109160"/>
                          </a:solidFill>
                          <a:latin typeface="Times New Roman" panose="02020603050405020304"/>
                        </a:rPr>
                        <a:t>Detected</a:t>
                      </a:r>
                      <a:endParaRPr sz="830" b="1">
                        <a:solidFill>
                          <a:srgbClr val="109160"/>
                        </a:solidFill>
                        <a:latin typeface="Times New Roman" panose="02020603050405020304"/>
                      </a:endParaRPr>
                    </a:p>
                  </a:txBody>
                  <a:tcPr marL="18288" marR="18288" marT="9144" marB="9144" anchor="ctr" anchorCtr="0">
                    <a:solidFill>
                      <a:srgbClr val="FFFFFF"/>
                    </a:solidFill>
                  </a:tcPr>
                </a:tc>
              </a:tr>
              <a:tr h="50840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30">
                          <a:solidFill>
                            <a:srgbClr val="202D41"/>
                          </a:solidFill>
                          <a:latin typeface="Times New Roman" panose="02020603050405020304"/>
                        </a:rPr>
                        <a:t>BLE</a:t>
                      </a:r>
                      <a:endParaRPr sz="830">
                        <a:solidFill>
                          <a:srgbClr val="202D41"/>
                        </a:solidFill>
                        <a:latin typeface="Times New Roman" panose="02020603050405020304"/>
                      </a:endParaRPr>
                    </a:p>
                  </a:txBody>
                  <a:tcPr marL="18288" marR="18288" marT="9144" marB="9144" anchor="ctr" anchorCtr="0"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30">
                          <a:solidFill>
                            <a:srgbClr val="202D41"/>
                          </a:solidFill>
                          <a:latin typeface="Times New Roman" panose="02020603050405020304"/>
                        </a:rPr>
                        <a:t>Required permission missing</a:t>
                      </a:r>
                      <a:endParaRPr sz="830">
                        <a:solidFill>
                          <a:srgbClr val="202D41"/>
                        </a:solidFill>
                        <a:latin typeface="Times New Roman" panose="02020603050405020304"/>
                      </a:endParaRPr>
                    </a:p>
                  </a:txBody>
                  <a:tcPr marL="18288" marR="18288" marT="9144" marB="9144" anchor="ctr" anchorCtr="0"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30">
                          <a:solidFill>
                            <a:srgbClr val="202D41"/>
                          </a:solidFill>
                          <a:latin typeface="Times New Roman" panose="02020603050405020304"/>
                        </a:rPr>
                        <a:t>Very limited / none</a:t>
                      </a:r>
                      <a:endParaRPr sz="830">
                        <a:solidFill>
                          <a:srgbClr val="202D41"/>
                        </a:solidFill>
                        <a:latin typeface="Times New Roman" panose="02020603050405020304"/>
                      </a:endParaRPr>
                    </a:p>
                  </a:txBody>
                  <a:tcPr marL="18288" marR="18288" marT="9144" marB="9144" anchor="ctr" anchorCtr="0"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30" b="1">
                          <a:solidFill>
                            <a:schemeClr val="accent1"/>
                          </a:solidFill>
                          <a:latin typeface="Times New Roman" panose="02020603050405020304"/>
                        </a:rPr>
                        <a:t>Prompts</a:t>
                      </a:r>
                      <a:endParaRPr lang="en-US" sz="830" b="1">
                        <a:solidFill>
                          <a:schemeClr val="accent1"/>
                        </a:solidFill>
                        <a:latin typeface="Times New Roman" panose="02020603050405020304"/>
                      </a:endParaRPr>
                    </a:p>
                  </a:txBody>
                  <a:tcPr marL="18288" marR="18288" marT="9144" marB="9144" anchor="ctr" anchorCtr="0">
                    <a:solidFill>
                      <a:srgbClr val="F3F8FF"/>
                    </a:solidFill>
                  </a:tcPr>
                </a:tc>
              </a:tr>
              <a:tr h="50840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30">
                          <a:solidFill>
                            <a:srgbClr val="202D41"/>
                          </a:solidFill>
                          <a:latin typeface="Times New Roman" panose="02020603050405020304"/>
                        </a:rPr>
                        <a:t>Acoustic</a:t>
                      </a:r>
                      <a:endParaRPr sz="830">
                        <a:solidFill>
                          <a:srgbClr val="202D41"/>
                        </a:solidFill>
                        <a:latin typeface="Times New Roman" panose="02020603050405020304"/>
                      </a:endParaRPr>
                    </a:p>
                  </a:txBody>
                  <a:tcPr marL="18288" marR="18288" marT="9144" marB="9144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30">
                          <a:solidFill>
                            <a:srgbClr val="202D41"/>
                          </a:solidFill>
                          <a:latin typeface="Times New Roman" panose="02020603050405020304"/>
                        </a:rPr>
                        <a:t>Quiet/controlled phone-to-phone test</a:t>
                      </a:r>
                      <a:endParaRPr sz="830">
                        <a:solidFill>
                          <a:srgbClr val="202D41"/>
                        </a:solidFill>
                        <a:latin typeface="Times New Roman" panose="02020603050405020304"/>
                      </a:endParaRPr>
                    </a:p>
                  </a:txBody>
                  <a:tcPr marL="18288" marR="18288" marT="9144" marB="9144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30">
                          <a:solidFill>
                            <a:srgbClr val="202D41"/>
                          </a:solidFill>
                          <a:latin typeface="Times New Roman" panose="02020603050405020304"/>
                        </a:rPr>
                        <a:t>About 30 cm+</a:t>
                      </a:r>
                      <a:endParaRPr sz="830">
                        <a:solidFill>
                          <a:srgbClr val="202D41"/>
                        </a:solidFill>
                        <a:latin typeface="Times New Roman" panose="02020603050405020304"/>
                      </a:endParaRPr>
                    </a:p>
                  </a:txBody>
                  <a:tcPr marL="18288" marR="18288" marT="9144" marB="9144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30" b="1">
                          <a:solidFill>
                            <a:srgbClr val="109160"/>
                          </a:solidFill>
                          <a:latin typeface="Times New Roman" panose="02020603050405020304"/>
                        </a:rPr>
                        <a:t>Detected</a:t>
                      </a:r>
                      <a:endParaRPr sz="830" b="1">
                        <a:solidFill>
                          <a:srgbClr val="109160"/>
                        </a:solidFill>
                        <a:latin typeface="Times New Roman" panose="02020603050405020304"/>
                      </a:endParaRPr>
                    </a:p>
                  </a:txBody>
                  <a:tcPr marL="18288" marR="18288" marT="9144" marB="9144" anchor="ctr" anchorCtr="0">
                    <a:solidFill>
                      <a:srgbClr val="FFFFFF"/>
                    </a:solidFill>
                  </a:tcPr>
                </a:tc>
              </a:tr>
              <a:tr h="5084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30">
                          <a:solidFill>
                            <a:srgbClr val="202D41"/>
                          </a:solidFill>
                          <a:latin typeface="Times New Roman" panose="02020603050405020304"/>
                        </a:rPr>
                        <a:t>Acoustic</a:t>
                      </a:r>
                      <a:endParaRPr sz="830">
                        <a:solidFill>
                          <a:srgbClr val="202D41"/>
                        </a:solidFill>
                        <a:latin typeface="Times New Roman" panose="02020603050405020304"/>
                      </a:endParaRPr>
                    </a:p>
                  </a:txBody>
                  <a:tcPr marL="18288" marR="18288" marT="9144" marB="9144" anchor="ctr" anchorCtr="0"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30">
                          <a:solidFill>
                            <a:srgbClr val="202D41"/>
                          </a:solidFill>
                          <a:latin typeface="Times New Roman" panose="02020603050405020304"/>
                        </a:rPr>
                        <a:t>Noise, distance or poor orientation</a:t>
                      </a:r>
                      <a:endParaRPr sz="830">
                        <a:solidFill>
                          <a:srgbClr val="202D41"/>
                        </a:solidFill>
                        <a:latin typeface="Times New Roman" panose="02020603050405020304"/>
                      </a:endParaRPr>
                    </a:p>
                  </a:txBody>
                  <a:tcPr marL="18288" marR="18288" marT="9144" marB="9144" anchor="ctr" anchorCtr="0"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30">
                          <a:solidFill>
                            <a:srgbClr val="202D41"/>
                          </a:solidFill>
                          <a:latin typeface="Times New Roman" panose="02020603050405020304"/>
                        </a:rPr>
                        <a:t>Shorter/unstable</a:t>
                      </a:r>
                      <a:endParaRPr sz="830">
                        <a:solidFill>
                          <a:srgbClr val="202D41"/>
                        </a:solidFill>
                        <a:latin typeface="Times New Roman" panose="02020603050405020304"/>
                      </a:endParaRPr>
                    </a:p>
                  </a:txBody>
                  <a:tcPr marL="18288" marR="18288" marT="9144" marB="9144" anchor="ctr" anchorCtr="0"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30" b="1">
                          <a:solidFill>
                            <a:srgbClr val="C59946"/>
                          </a:solidFill>
                          <a:latin typeface="Times New Roman" panose="02020603050405020304"/>
                        </a:rPr>
                        <a:t>Inconsistent</a:t>
                      </a:r>
                      <a:endParaRPr sz="830" b="1">
                        <a:solidFill>
                          <a:srgbClr val="C59946"/>
                        </a:solidFill>
                        <a:latin typeface="Times New Roman" panose="02020603050405020304"/>
                      </a:endParaRPr>
                    </a:p>
                  </a:txBody>
                  <a:tcPr marL="18288" marR="18288" marT="9144" marB="9144" anchor="ctr" anchorCtr="0">
                    <a:solidFill>
                      <a:srgbClr val="F3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7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09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7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137160"/>
            <a:ext cx="7772400" cy="2926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 panose="02020603050405020304"/>
              </a:rPr>
              <a:t>CONCLUSION</a:t>
            </a:r>
            <a:endParaRPr sz="20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321040" y="164592"/>
            <a:ext cx="640080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endParaRPr sz="11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82880" y="4910328"/>
            <a:ext cx="8778240" cy="12801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20" b="0">
                <a:solidFill>
                  <a:srgbClr val="FFFFFF"/>
                </a:solidFill>
                <a:latin typeface="Times New Roman" panose="02020603050405020304"/>
              </a:rPr>
              <a:t>Smart Attendance System | Dept. of Telecommunication Science | University of Ilorin</a:t>
            </a:r>
            <a:endParaRPr sz="720" b="0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0" y="699770"/>
            <a:ext cx="9136380" cy="407924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1430"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07010" y="855980"/>
            <a:ext cx="8754745" cy="3840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202D41"/>
                </a:solidFill>
                <a:latin typeface="Times New Roman" panose="02020603050405020304"/>
              </a:rPr>
              <a:t>- The project successfully demonstrates a mobile-based smart attendance system that verifies attendance using signal-based classroom proximity evidence.</a:t>
            </a:r>
            <a:endParaRPr sz="1400">
              <a:solidFill>
                <a:srgbClr val="202D41"/>
              </a:solidFill>
              <a:latin typeface="Times New Roman" panose="02020603050405020304"/>
            </a:endParaRP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02D41"/>
                </a:solidFill>
                <a:latin typeface="Times New Roman" panose="02020603050405020304"/>
              </a:rPr>
              <a:t>- Bluetooth Low Energy serves as the main practical classroom-range channel for detecting a session-specific attendance broadcast.</a:t>
            </a:r>
            <a:endParaRPr sz="1400">
              <a:solidFill>
                <a:srgbClr val="202D41"/>
              </a:solidFill>
              <a:latin typeface="Times New Roman" panose="02020603050405020304"/>
            </a:endParaRP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02D41"/>
                </a:solidFill>
                <a:latin typeface="Times New Roman" panose="02020603050405020304"/>
              </a:rPr>
              <a:t>- Acoustic beaconing provides an additional short-range copresence proof through the lecturer phone speaker and student phone microphone.</a:t>
            </a:r>
            <a:endParaRPr sz="1400">
              <a:solidFill>
                <a:srgbClr val="202D41"/>
              </a:solidFill>
              <a:latin typeface="Times New Roman" panose="02020603050405020304"/>
            </a:endParaRP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02D41"/>
                </a:solidFill>
                <a:latin typeface="Times New Roman" panose="02020603050405020304"/>
              </a:rPr>
              <a:t>- The hosted backend strengthens the system by validating session identity, signal freshness, duplicate submission, replay status and registered device trust.</a:t>
            </a:r>
            <a:endParaRPr sz="1400">
              <a:solidFill>
                <a:srgbClr val="202D41"/>
              </a:solidFill>
              <a:latin typeface="Times New Roman" panose="02020603050405020304"/>
            </a:endParaRP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02D41"/>
                </a:solidFill>
                <a:latin typeface="Times New Roman" panose="02020603050405020304"/>
              </a:rPr>
              <a:t>- The implemented lecturer and student interfaces support session creation, scanning, proof submission, validation reports and CSV export.</a:t>
            </a:r>
            <a:endParaRPr sz="1400">
              <a:solidFill>
                <a:srgbClr val="202D41"/>
              </a:solidFill>
              <a:latin typeface="Times New Roman" panose="02020603050405020304"/>
            </a:endParaRP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02D41"/>
                </a:solidFill>
                <a:latin typeface="Times New Roman" panose="02020603050405020304"/>
              </a:rPr>
              <a:t>- Preliminary testing shows that BLE provides better range than acoustic, while acoustic remains useful as a close-range secondary proof.</a:t>
            </a:r>
            <a:endParaRPr sz="1400">
              <a:solidFill>
                <a:srgbClr val="202D41"/>
              </a:solidFill>
              <a:latin typeface="Times New Roman" panose="02020603050405020304"/>
            </a:endParaRP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02D41"/>
                </a:solidFill>
                <a:latin typeface="Times New Roman" panose="02020603050405020304"/>
              </a:rPr>
              <a:t>- Overall, the system links telecommunication signal transmission with secure backend-controlled attendance record management.</a:t>
            </a:r>
            <a:endParaRPr sz="1400">
              <a:solidFill>
                <a:srgbClr val="202D41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7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09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7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" y="137160"/>
            <a:ext cx="7772400" cy="2926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 panose="02020603050405020304"/>
              </a:rPr>
              <a:t>REFERENCES</a:t>
            </a:r>
            <a:endParaRPr sz="20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321040" y="164592"/>
            <a:ext cx="640080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endParaRPr sz="11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82880" y="713232"/>
            <a:ext cx="877824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870" b="1">
                <a:solidFill>
                  <a:srgbClr val="566479"/>
                </a:solidFill>
                <a:latin typeface="Times New Roman" panose="02020603050405020304"/>
              </a:rPr>
              <a:t>Selected verified sources supporting the project design and methodology</a:t>
            </a:r>
            <a:endParaRPr sz="870" b="1">
              <a:solidFill>
                <a:srgbClr val="566479"/>
              </a:solidFill>
              <a:latin typeface="Times New Roman" panose="020206030504050203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82880" y="4910328"/>
            <a:ext cx="8778240" cy="12801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20" b="0">
                <a:solidFill>
                  <a:srgbClr val="FFFFFF"/>
                </a:solidFill>
                <a:latin typeface="Times New Roman" panose="02020603050405020304"/>
              </a:rPr>
              <a:t>Smart Attendance System | Dept. of Telecommunication Science | University of Ilorin</a:t>
            </a:r>
            <a:endParaRPr sz="720" b="0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75615" y="1170305"/>
            <a:ext cx="8080375" cy="33648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02D41"/>
                </a:solidFill>
                <a:latin typeface="Times New Roman" panose="02020603050405020304"/>
              </a:rPr>
              <a:t>Ayop, Z., Lin, C. Y., Anawar, S., Hamid, E., &amp; Azhar, M. S. (2018). Location-aware event attendance system using QR code and GPS technology. International Journal of Advanced Computer Science and Applications, 9(9), 466-473. https://doi.org/10.14569/IJACSA.2018.090959</a:t>
            </a:r>
            <a:endParaRPr sz="1200">
              <a:solidFill>
                <a:srgbClr val="202D41"/>
              </a:solidFill>
              <a:latin typeface="Times New Roman" panose="02020603050405020304"/>
            </a:endParaRPr>
          </a:p>
          <a:p>
            <a:pPr>
              <a:spcAft>
                <a:spcPts val="400"/>
              </a:spcAft>
            </a:pPr>
            <a:endParaRPr sz="400">
              <a:solidFill>
                <a:srgbClr val="202D41"/>
              </a:solidFill>
              <a:latin typeface="Times New Roman" panose="02020603050405020304"/>
            </a:endParaRP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02D41"/>
                </a:solidFill>
                <a:latin typeface="Times New Roman" panose="02020603050405020304"/>
              </a:rPr>
              <a:t>Getreuer, P., Gnegy, C., Lyon, R. F., &amp; Saurous, R. A. (2018). Ultrasonic communication using consumer hardware. IEEE Transactions on Multimedia, 20(6), 1277-1290. https://doi.org/10.1109/TMM.2017.2766049</a:t>
            </a:r>
            <a:endParaRPr sz="1200">
              <a:solidFill>
                <a:srgbClr val="202D41"/>
              </a:solidFill>
              <a:latin typeface="Times New Roman" panose="02020603050405020304"/>
            </a:endParaRPr>
          </a:p>
          <a:p>
            <a:pPr>
              <a:spcAft>
                <a:spcPts val="400"/>
              </a:spcAft>
            </a:pPr>
            <a:endParaRPr sz="300">
              <a:solidFill>
                <a:srgbClr val="202D41"/>
              </a:solidFill>
              <a:latin typeface="Times New Roman" panose="02020603050405020304"/>
            </a:endParaRP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02D41"/>
                </a:solidFill>
                <a:latin typeface="Times New Roman" panose="02020603050405020304"/>
              </a:rPr>
              <a:t>Kim, M., Lee, J., &amp; Paek, J. (2018). Neutralizing BLE beacon-based electronic attendance system using signal imitation attack. IEEE Access, 6, 77921-77930. https://doi.org/10.1109/ACCESS.2018.2884488</a:t>
            </a:r>
            <a:endParaRPr sz="1200">
              <a:solidFill>
                <a:srgbClr val="202D41"/>
              </a:solidFill>
              <a:latin typeface="Times New Roman" panose="02020603050405020304"/>
            </a:endParaRPr>
          </a:p>
          <a:p>
            <a:pPr>
              <a:spcAft>
                <a:spcPts val="400"/>
              </a:spcAft>
            </a:pPr>
            <a:endParaRPr sz="200">
              <a:solidFill>
                <a:srgbClr val="202D41"/>
              </a:solidFill>
              <a:latin typeface="Times New Roman" panose="02020603050405020304"/>
            </a:endParaRP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02D41"/>
                </a:solidFill>
                <a:latin typeface="Times New Roman" panose="02020603050405020304"/>
              </a:rPr>
              <a:t>Puckdeevongs, A., Tripathi, N. K., Witayangkurn, A., &amp; Saengudomlert, P. (2020). Classroom attendance systems based on Bluetooth Low Energy indoor positioning technology for smart campus. Information, 11(6), Article 329. https://doi.org/10.3390/info11060329</a:t>
            </a:r>
            <a:endParaRPr sz="1200">
              <a:solidFill>
                <a:srgbClr val="202D41"/>
              </a:solidFill>
              <a:latin typeface="Times New Roman" panose="02020603050405020304"/>
            </a:endParaRPr>
          </a:p>
          <a:p>
            <a:pPr>
              <a:spcAft>
                <a:spcPts val="400"/>
              </a:spcAft>
            </a:pPr>
            <a:endParaRPr sz="100">
              <a:solidFill>
                <a:srgbClr val="202D41"/>
              </a:solidFill>
              <a:latin typeface="Times New Roman" panose="02020603050405020304"/>
            </a:endParaRP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02D41"/>
                </a:solidFill>
                <a:latin typeface="Times New Roman" panose="02020603050405020304"/>
              </a:rPr>
              <a:t>Ramirez, R., Huang, C.-Y., Liao, C.-A., Lin, P.-T., Lin, H.-W., &amp; Liang, S.-H. (2021). A practice of BLE RSSI measurement for indoor positioning. Sensors, 21(15), Article 5181. https://doi.org/10.3390/s21155181</a:t>
            </a:r>
            <a:endParaRPr sz="1200">
              <a:solidFill>
                <a:srgbClr val="202D41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720*335"/>
  <p:tag name="TABLE_ENDDRAG_RECT" val="0*47*720*335"/>
</p:tagLst>
</file>

<file path=ppt/tags/tag2.xml><?xml version="1.0" encoding="utf-8"?>
<p:tagLst xmlns:p="http://schemas.openxmlformats.org/presentationml/2006/main">
  <p:tag name="KSO_WM_DIAGRAM_VIRTUALLY_FRAME" val="{&quot;height&quot;:211.7,&quot;left&quot;:13.949999999999912,&quot;top&quot;:102.2,&quot;width&quot;:692.4000000000001}"/>
</p:tagLst>
</file>

<file path=ppt/tags/tag3.xml><?xml version="1.0" encoding="utf-8"?>
<p:tagLst xmlns:p="http://schemas.openxmlformats.org/presentationml/2006/main">
  <p:tag name="KSO_WM_DIAGRAM_VIRTUALLY_FRAME" val="{&quot;height&quot;:211.7,&quot;left&quot;:13.949999999999912,&quot;top&quot;:102.2,&quot;width&quot;:692.4000000000001}"/>
</p:tagLst>
</file>

<file path=ppt/tags/tag4.xml><?xml version="1.0" encoding="utf-8"?>
<p:tagLst xmlns:p="http://schemas.openxmlformats.org/presentationml/2006/main">
  <p:tag name="KSO_WM_DIAGRAM_VIRTUALLY_FRAME" val="{&quot;height&quot;:211.7,&quot;left&quot;:13.949999999999912,&quot;top&quot;:102.2,&quot;width&quot;:692.4000000000001}"/>
</p:tagLst>
</file>

<file path=ppt/tags/tag5.xml><?xml version="1.0" encoding="utf-8"?>
<p:tagLst xmlns:p="http://schemas.openxmlformats.org/presentationml/2006/main">
  <p:tag name="KSO_WM_DIAGRAM_VIRTUALLY_FRAME" val="{&quot;height&quot;:202.32,&quot;left&quot;:14.4,&quot;top&quot;:155.04000000000002,&quot;width&quot;:684}"/>
</p:tagLst>
</file>

<file path=ppt/tags/tag6.xml><?xml version="1.0" encoding="utf-8"?>
<p:tagLst xmlns:p="http://schemas.openxmlformats.org/presentationml/2006/main">
  <p:tag name="KSO_WM_DIAGRAM_VIRTUALLY_FRAME" val="{&quot;height&quot;:202.32,&quot;left&quot;:14.4,&quot;top&quot;:155.04000000000002,&quot;width&quot;:684}"/>
</p:tagLst>
</file>

<file path=ppt/tags/tag7.xml><?xml version="1.0" encoding="utf-8"?>
<p:tagLst xmlns:p="http://schemas.openxmlformats.org/presentationml/2006/main">
  <p:tag name="KSO_WM_DIAGRAM_VIRTUALLY_FRAME" val="{&quot;height&quot;:202.32,&quot;left&quot;:14.4,&quot;top&quot;:155.04000000000002,&quot;width&quot;:684}"/>
</p:tagLst>
</file>

<file path=ppt/tags/tag8.xml><?xml version="1.0" encoding="utf-8"?>
<p:tagLst xmlns:p="http://schemas.openxmlformats.org/presentationml/2006/main">
  <p:tag name="KSO_WM_DIAGRAM_VIRTUALLY_FRAME" val="{&quot;height&quot;:202.32,&quot;left&quot;:14.4,&quot;top&quot;:155.04000000000002,&quot;width&quot;:684}"/>
</p:tagLst>
</file>

<file path=ppt/tags/tag9.xml><?xml version="1.0" encoding="utf-8"?>
<p:tagLst xmlns:p="http://schemas.openxmlformats.org/presentationml/2006/main">
  <p:tag name="KSO_WM_DIAGRAM_VIRTUALLY_FRAME" val="{&quot;height&quot;:202.32,&quot;left&quot;:14.4,&quot;top&quot;:155.04000000000002,&quot;width&quot;:684}"/>
</p:tagLst>
</file>

<file path=ppt/tags/tag10.xml><?xml version="1.0" encoding="utf-8"?>
<p:tagLst xmlns:p="http://schemas.openxmlformats.org/presentationml/2006/main">
  <p:tag name="KSO_WM_DIAGRAM_VIRTUALLY_FRAME" val="{&quot;height&quot;:202.32,&quot;left&quot;:14.4,&quot;top&quot;:155.04000000000002,&quot;width&quot;:684}"/>
</p:tagLst>
</file>

<file path=ppt/tags/tag11.xml><?xml version="1.0" encoding="utf-8"?>
<p:tagLst xmlns:p="http://schemas.openxmlformats.org/presentationml/2006/main">
  <p:tag name="KSO_WM_DIAGRAM_VIRTUALLY_FRAME" val="{&quot;height&quot;:202.32,&quot;left&quot;:14.4,&quot;top&quot;:155.04000000000002,&quot;width&quot;:684}"/>
</p:tagLst>
</file>

<file path=ppt/tags/tag12.xml><?xml version="1.0" encoding="utf-8"?>
<p:tagLst xmlns:p="http://schemas.openxmlformats.org/presentationml/2006/main">
  <p:tag name="KSO_WM_DIAGRAM_VIRTUALLY_FRAME" val="{&quot;height&quot;:202.32,&quot;left&quot;:14.4,&quot;top&quot;:155.04000000000002,&quot;width&quot;:684}"/>
</p:tagLst>
</file>

<file path=ppt/tags/tag13.xml><?xml version="1.0" encoding="utf-8"?>
<p:tagLst xmlns:p="http://schemas.openxmlformats.org/presentationml/2006/main">
  <p:tag name="KSO_WM_DIAGRAM_VIRTUALLY_FRAME" val="{&quot;height&quot;:202.32,&quot;left&quot;:14.4,&quot;top&quot;:155.04000000000002,&quot;width&quot;:684}"/>
</p:tagLst>
</file>

<file path=ppt/tags/tag14.xml><?xml version="1.0" encoding="utf-8"?>
<p:tagLst xmlns:p="http://schemas.openxmlformats.org/presentationml/2006/main">
  <p:tag name="KSO_WM_DIAGRAM_VIRTUALLY_FRAME" val="{&quot;height&quot;:202.32,&quot;left&quot;:14.4,&quot;top&quot;:155.04000000000002,&quot;width&quot;:684}"/>
</p:tagLst>
</file>

<file path=ppt/tags/tag15.xml><?xml version="1.0" encoding="utf-8"?>
<p:tagLst xmlns:p="http://schemas.openxmlformats.org/presentationml/2006/main">
  <p:tag name="KSO_WM_DIAGRAM_VIRTUALLY_FRAME" val="{&quot;height&quot;:202.32,&quot;left&quot;:14.4,&quot;top&quot;:155.04000000000002,&quot;width&quot;:684}"/>
</p:tagLst>
</file>

<file path=ppt/tags/tag16.xml><?xml version="1.0" encoding="utf-8"?>
<p:tagLst xmlns:p="http://schemas.openxmlformats.org/presentationml/2006/main">
  <p:tag name="KSO_WM_DIAGRAM_VIRTUALLY_FRAME" val="{&quot;height&quot;:202.32,&quot;left&quot;:14.4,&quot;top&quot;:155.04000000000002,&quot;width&quot;:684}"/>
</p:tagLst>
</file>

<file path=ppt/tags/tag17.xml><?xml version="1.0" encoding="utf-8"?>
<p:tagLst xmlns:p="http://schemas.openxmlformats.org/presentationml/2006/main">
  <p:tag name="KSO_WM_DIAGRAM_VIRTUALLY_FRAME" val="{&quot;height&quot;:202.32,&quot;left&quot;:14.4,&quot;top&quot;:155.04000000000002,&quot;width&quot;:684}"/>
</p:tagLst>
</file>

<file path=ppt/tags/tag18.xml><?xml version="1.0" encoding="utf-8"?>
<p:tagLst xmlns:p="http://schemas.openxmlformats.org/presentationml/2006/main">
  <p:tag name="KSO_WM_DIAGRAM_VIRTUALLY_FRAME" val="{&quot;height&quot;:202.32,&quot;left&quot;:14.4,&quot;top&quot;:155.04000000000002,&quot;width&quot;:684}"/>
</p:tagLst>
</file>

<file path=ppt/tags/tag19.xml><?xml version="1.0" encoding="utf-8"?>
<p:tagLst xmlns:p="http://schemas.openxmlformats.org/presentationml/2006/main">
  <p:tag name="KSO_WM_DIAGRAM_VIRTUALLY_FRAME" val="{&quot;height&quot;:202.32,&quot;left&quot;:14.4,&quot;top&quot;:155.04000000000002,&quot;width&quot;:684}"/>
</p:tagLst>
</file>

<file path=ppt/tags/tag20.xml><?xml version="1.0" encoding="utf-8"?>
<p:tagLst xmlns:p="http://schemas.openxmlformats.org/presentationml/2006/main">
  <p:tag name="KSO_WM_DIAGRAM_VIRTUALLY_FRAME" val="{&quot;height&quot;:202.32,&quot;left&quot;:14.4,&quot;top&quot;:155.04000000000002,&quot;width&quot;:684}"/>
</p:tagLst>
</file>

<file path=ppt/tags/tag21.xml><?xml version="1.0" encoding="utf-8"?>
<p:tagLst xmlns:p="http://schemas.openxmlformats.org/presentationml/2006/main">
  <p:tag name="KSO_WM_DIAGRAM_VIRTUALLY_FRAME" val="{&quot;height&quot;:202.32,&quot;left&quot;:14.4,&quot;top&quot;:155.04000000000002,&quot;width&quot;:684}"/>
</p:tagLst>
</file>

<file path=ppt/tags/tag22.xml><?xml version="1.0" encoding="utf-8"?>
<p:tagLst xmlns:p="http://schemas.openxmlformats.org/presentationml/2006/main">
  <p:tag name="KSO_WM_DIAGRAM_VIRTUALLY_FRAME" val="{&quot;height&quot;:202.32,&quot;left&quot;:14.4,&quot;top&quot;:155.04000000000002,&quot;width&quot;:684}"/>
</p:tagLst>
</file>

<file path=ppt/tags/tag23.xml><?xml version="1.0" encoding="utf-8"?>
<p:tagLst xmlns:p="http://schemas.openxmlformats.org/presentationml/2006/main">
  <p:tag name="KSO_WM_DIAGRAM_VIRTUALLY_FRAME" val="{&quot;height&quot;:202.32,&quot;left&quot;:14.4,&quot;top&quot;:155.04000000000002,&quot;width&quot;:684}"/>
</p:tagLst>
</file>

<file path=ppt/tags/tag24.xml><?xml version="1.0" encoding="utf-8"?>
<p:tagLst xmlns:p="http://schemas.openxmlformats.org/presentationml/2006/main">
  <p:tag name="KSO_WM_DIAGRAM_VIRTUALLY_FRAME" val="{&quot;height&quot;:202.32,&quot;left&quot;:14.4,&quot;top&quot;:155.04000000000002,&quot;width&quot;:684}"/>
</p:tagLst>
</file>

<file path=ppt/tags/tag25.xml><?xml version="1.0" encoding="utf-8"?>
<p:tagLst xmlns:p="http://schemas.openxmlformats.org/presentationml/2006/main">
  <p:tag name="KSO_WM_DIAGRAM_VIRTUALLY_FRAME" val="{&quot;height&quot;:243.35999999999999,&quot;left&quot;:15.84,&quot;top&quot;:82.8,&quot;width&quot;:686.1600000000001}"/>
</p:tagLst>
</file>

<file path=ppt/tags/tag26.xml><?xml version="1.0" encoding="utf-8"?>
<p:tagLst xmlns:p="http://schemas.openxmlformats.org/presentationml/2006/main">
  <p:tag name="KSO_WM_DIAGRAM_VIRTUALLY_FRAME" val="{&quot;height&quot;:243.35999999999999,&quot;left&quot;:15.84,&quot;top&quot;:82.8,&quot;width&quot;:686.1600000000001}"/>
</p:tagLst>
</file>

<file path=ppt/tags/tag27.xml><?xml version="1.0" encoding="utf-8"?>
<p:tagLst xmlns:p="http://schemas.openxmlformats.org/presentationml/2006/main">
  <p:tag name="KSO_WM_DIAGRAM_VIRTUALLY_FRAME" val="{&quot;height&quot;:243.35999999999999,&quot;left&quot;:15.84,&quot;top&quot;:82.8,&quot;width&quot;:686.1600000000001}"/>
</p:tagLst>
</file>

<file path=ppt/tags/tag28.xml><?xml version="1.0" encoding="utf-8"?>
<p:tagLst xmlns:p="http://schemas.openxmlformats.org/presentationml/2006/main">
  <p:tag name="KSO_WM_DIAGRAM_VIRTUALLY_FRAME" val="{&quot;height&quot;:243.35999999999999,&quot;left&quot;:15.84,&quot;top&quot;:82.8,&quot;width&quot;:686.1600000000001}"/>
</p:tagLst>
</file>

<file path=ppt/tags/tag29.xml><?xml version="1.0" encoding="utf-8"?>
<p:tagLst xmlns:p="http://schemas.openxmlformats.org/presentationml/2006/main">
  <p:tag name="KSO_WM_DIAGRAM_VIRTUALLY_FRAME" val="{&quot;height&quot;:243.35999999999999,&quot;left&quot;:15.84,&quot;top&quot;:82.8,&quot;width&quot;:686.1600000000001}"/>
</p:tagLst>
</file>

<file path=ppt/tags/tag30.xml><?xml version="1.0" encoding="utf-8"?>
<p:tagLst xmlns:p="http://schemas.openxmlformats.org/presentationml/2006/main">
  <p:tag name="KSO_WM_DIAGRAM_VIRTUALLY_FRAME" val="{&quot;height&quot;:243.35999999999999,&quot;left&quot;:15.84,&quot;top&quot;:82.8,&quot;width&quot;:686.1600000000001}"/>
</p:tagLst>
</file>

<file path=ppt/tags/tag31.xml><?xml version="1.0" encoding="utf-8"?>
<p:tagLst xmlns:p="http://schemas.openxmlformats.org/presentationml/2006/main">
  <p:tag name="KSO_WM_DIAGRAM_VIRTUALLY_FRAME" val="{&quot;height&quot;:243.35999999999999,&quot;left&quot;:15.84,&quot;top&quot;:82.8,&quot;width&quot;:686.1600000000001}"/>
</p:tagLst>
</file>

<file path=ppt/tags/tag32.xml><?xml version="1.0" encoding="utf-8"?>
<p:tagLst xmlns:p="http://schemas.openxmlformats.org/presentationml/2006/main">
  <p:tag name="KSO_WM_DIAGRAM_VIRTUALLY_FRAME" val="{&quot;height&quot;:243.35999999999999,&quot;left&quot;:15.84,&quot;top&quot;:82.8,&quot;width&quot;:686.1600000000001}"/>
</p:tagLst>
</file>

<file path=ppt/tags/tag33.xml><?xml version="1.0" encoding="utf-8"?>
<p:tagLst xmlns:p="http://schemas.openxmlformats.org/presentationml/2006/main">
  <p:tag name="KSO_WM_DIAGRAM_VIRTUALLY_FRAME" val="{&quot;height&quot;:243.35999999999999,&quot;left&quot;:15.84,&quot;top&quot;:82.8,&quot;width&quot;:686.1600000000001}"/>
</p:tagLst>
</file>

<file path=ppt/tags/tag34.xml><?xml version="1.0" encoding="utf-8"?>
<p:tagLst xmlns:p="http://schemas.openxmlformats.org/presentationml/2006/main">
  <p:tag name="KSO_WM_DIAGRAM_VIRTUALLY_FRAME" val="{&quot;height&quot;:243.35999999999999,&quot;left&quot;:15.84,&quot;top&quot;:82.8,&quot;width&quot;:686.1600000000001}"/>
</p:tagLst>
</file>

<file path=ppt/tags/tag35.xml><?xml version="1.0" encoding="utf-8"?>
<p:tagLst xmlns:p="http://schemas.openxmlformats.org/presentationml/2006/main">
  <p:tag name="KSO_WM_DIAGRAM_VIRTUALLY_FRAME" val="{&quot;height&quot;:243.35999999999999,&quot;left&quot;:15.84,&quot;top&quot;:82.8,&quot;width&quot;:686.1600000000001}"/>
</p:tagLst>
</file>

<file path=ppt/tags/tag36.xml><?xml version="1.0" encoding="utf-8"?>
<p:tagLst xmlns:p="http://schemas.openxmlformats.org/presentationml/2006/main">
  <p:tag name="KSO_WM_DIAGRAM_VIRTUALLY_FRAME" val="{&quot;height&quot;:243.35999999999999,&quot;left&quot;:15.84,&quot;top&quot;:82.8,&quot;width&quot;:686.1600000000001}"/>
</p:tagLst>
</file>

<file path=ppt/tags/tag37.xml><?xml version="1.0" encoding="utf-8"?>
<p:tagLst xmlns:p="http://schemas.openxmlformats.org/presentationml/2006/main">
  <p:tag name="KSO_WM_DIAGRAM_VIRTUALLY_FRAME" val="{&quot;height&quot;:354.25,&quot;left&quot;:4.290000000000009,&quot;top&quot;:44.65,&quot;width&quot;:710.8808317756806}"/>
</p:tagLst>
</file>

<file path=ppt/tags/tag38.xml><?xml version="1.0" encoding="utf-8"?>
<p:tagLst xmlns:p="http://schemas.openxmlformats.org/presentationml/2006/main">
  <p:tag name="KSO_WM_DIAGRAM_VIRTUALLY_FRAME" val="{&quot;height&quot;:354.25,&quot;left&quot;:4.290000000000009,&quot;top&quot;:44.65,&quot;width&quot;:710.8808317756806}"/>
</p:tagLst>
</file>

<file path=ppt/tags/tag39.xml><?xml version="1.0" encoding="utf-8"?>
<p:tagLst xmlns:p="http://schemas.openxmlformats.org/presentationml/2006/main">
  <p:tag name="KSO_WM_DIAGRAM_VIRTUALLY_FRAME" val="{&quot;height&quot;:354.25,&quot;left&quot;:4.290000000000009,&quot;top&quot;:44.65,&quot;width&quot;:710.8808317756806}"/>
</p:tagLst>
</file>

<file path=ppt/tags/tag40.xml><?xml version="1.0" encoding="utf-8"?>
<p:tagLst xmlns:p="http://schemas.openxmlformats.org/presentationml/2006/main">
  <p:tag name="KSO_WM_DIAGRAM_VIRTUALLY_FRAME" val="{&quot;height&quot;:354.25,&quot;left&quot;:4.290000000000009,&quot;top&quot;:44.65,&quot;width&quot;:710.8808317756806}"/>
</p:tagLst>
</file>

<file path=ppt/tags/tag41.xml><?xml version="1.0" encoding="utf-8"?>
<p:tagLst xmlns:p="http://schemas.openxmlformats.org/presentationml/2006/main">
  <p:tag name="KSO_WM_DIAGRAM_VIRTUALLY_FRAME" val="{&quot;height&quot;:354.25,&quot;left&quot;:4.290000000000009,&quot;top&quot;:44.65,&quot;width&quot;:710.8808317756806}"/>
</p:tagLst>
</file>

<file path=ppt/tags/tag42.xml><?xml version="1.0" encoding="utf-8"?>
<p:tagLst xmlns:p="http://schemas.openxmlformats.org/presentationml/2006/main">
  <p:tag name="KSO_WM_DIAGRAM_VIRTUALLY_FRAME" val="{&quot;height&quot;:354.25,&quot;left&quot;:4.290000000000009,&quot;top&quot;:44.65,&quot;width&quot;:710.8808317756806}"/>
</p:tagLst>
</file>

<file path=ppt/tags/tag43.xml><?xml version="1.0" encoding="utf-8"?>
<p:tagLst xmlns:p="http://schemas.openxmlformats.org/presentationml/2006/main">
  <p:tag name="KSO_WM_DIAGRAM_VIRTUALLY_FRAME" val="{&quot;height&quot;:354.25,&quot;left&quot;:4.290000000000009,&quot;top&quot;:44.65,&quot;width&quot;:710.8808317756806}"/>
</p:tagLst>
</file>

<file path=ppt/tags/tag44.xml><?xml version="1.0" encoding="utf-8"?>
<p:tagLst xmlns:p="http://schemas.openxmlformats.org/presentationml/2006/main">
  <p:tag name="KSO_WM_DIAGRAM_VIRTUALLY_FRAME" val="{&quot;height&quot;:354.25,&quot;left&quot;:4.290000000000009,&quot;top&quot;:44.65,&quot;width&quot;:710.8808317756806}"/>
</p:tagLst>
</file>

<file path=ppt/tags/tag45.xml><?xml version="1.0" encoding="utf-8"?>
<p:tagLst xmlns:p="http://schemas.openxmlformats.org/presentationml/2006/main">
  <p:tag name="KSO_WM_DIAGRAM_VIRTUALLY_FRAME" val="{&quot;height&quot;:354.25,&quot;left&quot;:4.290000000000009,&quot;top&quot;:44.65,&quot;width&quot;:710.8808317756806}"/>
</p:tagLst>
</file>

<file path=ppt/tags/tag46.xml><?xml version="1.0" encoding="utf-8"?>
<p:tagLst xmlns:p="http://schemas.openxmlformats.org/presentationml/2006/main">
  <p:tag name="KSO_WM_DIAGRAM_VIRTUALLY_FRAME" val="{&quot;height&quot;:354.25,&quot;left&quot;:4.290000000000009,&quot;top&quot;:44.65,&quot;width&quot;:710.8808317756806}"/>
</p:tagLst>
</file>

<file path=ppt/tags/tag47.xml><?xml version="1.0" encoding="utf-8"?>
<p:tagLst xmlns:p="http://schemas.openxmlformats.org/presentationml/2006/main">
  <p:tag name="KSO_WM_DIAGRAM_VIRTUALLY_FRAME" val="{&quot;height&quot;:354.25,&quot;left&quot;:4.290000000000009,&quot;top&quot;:44.65,&quot;width&quot;:710.8808317756806}"/>
</p:tagLst>
</file>

<file path=ppt/tags/tag48.xml><?xml version="1.0" encoding="utf-8"?>
<p:tagLst xmlns:p="http://schemas.openxmlformats.org/presentationml/2006/main">
  <p:tag name="KSO_WM_DIAGRAM_VIRTUALLY_FRAME" val="{&quot;height&quot;:354.25,&quot;left&quot;:4.290000000000009,&quot;top&quot;:44.65,&quot;width&quot;:710.880831775680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11366</Words>
  <Application>WPS Presentation</Application>
  <PresentationFormat/>
  <Paragraphs>404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SimSun</vt:lpstr>
      <vt:lpstr>Wingdings</vt:lpstr>
      <vt:lpstr>Times New Roman</vt:lpstr>
      <vt:lpstr>Arial</vt:lpstr>
      <vt:lpstr>Arial</vt:lpstr>
      <vt:lpstr>Times New Roman</vt:lpstr>
      <vt:lpstr>Times New Roman</vt:lpstr>
      <vt:lpstr>Times New Roman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cp:lastModifiedBy>Fijacks Property</cp:lastModifiedBy>
  <cp:revision>24</cp:revision>
  <dcterms:created xsi:type="dcterms:W3CDTF">2026-05-19T11:51:00Z</dcterms:created>
  <dcterms:modified xsi:type="dcterms:W3CDTF">2026-05-21T08:18:52Z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25602C4024214E7CA94D77152882FA3E_13</vt:lpwstr>
  </property>
  <property fmtid="{D5CDD505-2E9C-101B-9397-08002B2CF9AE}" pid="3" name="KSOProductBuildVer">
    <vt:lpwstr>1033-12.2.0.23196</vt:lpwstr>
  </property>
</Properties>
</file>